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092440" y="0"/>
            <a:ext cx="4096512" cy="6858000"/>
          </a:xfrm>
          <a:prstGeom prst="rect">
            <a:avLst/>
          </a:prstGeom>
          <a:solidFill>
            <a:srgbClr val="0F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1005840"/>
            <a:ext cx="292608" cy="292608"/>
          </a:xfrm>
          <a:prstGeom prst="ellipse">
            <a:avLst/>
          </a:prstGeom>
          <a:solidFill>
            <a:srgbClr val="46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1005840"/>
            <a:ext cx="292608" cy="292608"/>
          </a:xfrm>
          <a:prstGeom prst="ellipse">
            <a:avLst/>
          </a:prstGeom>
          <a:solidFill>
            <a:srgbClr val="2A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1005840"/>
            <a:ext cx="292608" cy="292608"/>
          </a:xfrm>
          <a:prstGeom prst="ellipse">
            <a:avLst/>
          </a:prstGeom>
          <a:solidFill>
            <a:srgbClr val="4D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0" y="2194560"/>
            <a:ext cx="292608" cy="292608"/>
          </a:xfrm>
          <a:prstGeom prst="ellipse">
            <a:avLst/>
          </a:prstGeom>
          <a:solidFill>
            <a:srgbClr val="2A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0" y="2194560"/>
            <a:ext cx="292608" cy="292608"/>
          </a:xfrm>
          <a:prstGeom prst="ellipse">
            <a:avLst/>
          </a:prstGeom>
          <a:solidFill>
            <a:srgbClr val="46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0" y="2194560"/>
            <a:ext cx="292608" cy="292608"/>
          </a:xfrm>
          <a:prstGeom prst="ellipse">
            <a:avLst/>
          </a:prstGeom>
          <a:solidFill>
            <a:srgbClr val="2A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8833104" y="1152144"/>
            <a:ext cx="1371600" cy="0"/>
          </a:xfrm>
          <a:prstGeom prst="line">
            <a:avLst/>
          </a:prstGeom>
          <a:ln w="19050">
            <a:solidFill>
              <a:srgbClr val="3E5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204704" y="1152144"/>
            <a:ext cx="914400" cy="0"/>
          </a:xfrm>
          <a:prstGeom prst="line">
            <a:avLst/>
          </a:prstGeom>
          <a:ln w="19050">
            <a:solidFill>
              <a:srgbClr val="3E5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833104" y="1152144"/>
            <a:ext cx="0" cy="1188720"/>
          </a:xfrm>
          <a:prstGeom prst="line">
            <a:avLst/>
          </a:prstGeom>
          <a:ln w="19050">
            <a:solidFill>
              <a:srgbClr val="3E5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204704" y="1152144"/>
            <a:ext cx="0" cy="1188720"/>
          </a:xfrm>
          <a:prstGeom prst="line">
            <a:avLst/>
          </a:prstGeom>
          <a:ln w="19050">
            <a:solidFill>
              <a:srgbClr val="3E5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119104" y="1152144"/>
            <a:ext cx="0" cy="1188720"/>
          </a:xfrm>
          <a:prstGeom prst="line">
            <a:avLst/>
          </a:prstGeom>
          <a:ln w="19050">
            <a:solidFill>
              <a:srgbClr val="3E5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685800"/>
            <a:ext cx="68580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46DCE8"/>
                </a:solidFill>
                <a:latin typeface="Aptos"/>
              </a:defRPr>
            </a:pPr>
            <a:r>
              <a:t>DG INTERNS HUB  /  CYBERSECURITY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508760"/>
            <a:ext cx="7132320" cy="1463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5F8FF"/>
                </a:solidFill>
                <a:latin typeface="Aptos"/>
              </a:defRPr>
            </a:pPr>
            <a:r>
              <a:t>WEEK 2</a:t>
            </a:r>
          </a:p>
          <a:p>
            <a:pPr>
              <a:spcAft>
                <a:spcPts val="700"/>
              </a:spcAft>
              <a:defRPr sz="3200" b="1">
                <a:solidFill>
                  <a:srgbClr val="F5F8FF"/>
                </a:solidFill>
                <a:latin typeface="Aptos"/>
              </a:defRPr>
            </a:pPr>
            <a:r>
              <a:t>PROJECT PRESENTATION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3246120"/>
            <a:ext cx="6766560" cy="5486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B1C0D6"/>
                </a:solidFill>
                <a:latin typeface="Aptos"/>
              </a:defRPr>
            </a:pPr>
            <a:r>
              <a:t>Network Traffic • Log Analysis • Threat Detection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" y="4160520"/>
            <a:ext cx="1005840" cy="54864"/>
          </a:xfrm>
          <a:prstGeom prst="rect">
            <a:avLst/>
          </a:prstGeom>
          <a:solidFill>
            <a:srgbClr val="2A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4526280"/>
            <a:ext cx="6217920" cy="7772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F"/>
                </a:solidFill>
                <a:latin typeface="Aptos"/>
              </a:defRPr>
            </a:pPr>
            <a:r>
              <a:t>Submitted by: Gunjan</a:t>
            </a:r>
          </a:p>
          <a:p>
            <a:pPr>
              <a:spcAft>
                <a:spcPts val="700"/>
              </a:spcAft>
              <a:defRPr sz="1500" b="0">
                <a:solidFill>
                  <a:srgbClr val="F5F8FF"/>
                </a:solidFill>
                <a:latin typeface="Aptos"/>
              </a:defRPr>
            </a:pPr>
            <a:r>
              <a:t>Cybersecurity Internship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6199632"/>
            <a:ext cx="676656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B1C0D6"/>
                </a:solidFill>
                <a:latin typeface="Aptos"/>
              </a:defRPr>
            </a:pPr>
            <a:r>
              <a:t>PRACTICAL LEARNING REPORT  |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54864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46DCE8"/>
                </a:solidFill>
                <a:latin typeface="Aptos"/>
              </a:defRPr>
            </a:pPr>
            <a:r>
              <a:t>01 /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5F8FF"/>
                </a:solidFill>
                <a:latin typeface="Aptos"/>
              </a:defRPr>
            </a:pPr>
            <a:r>
              <a:t>What I worked on this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9576"/>
            <a:ext cx="10972800" cy="34747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1C0D6"/>
                </a:solidFill>
                <a:latin typeface="Aptos"/>
              </a:defRPr>
            </a:pPr>
            <a:r>
              <a:t>A practical week focused on observing traffic, reviewing logs, and learning detection workflows.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27632"/>
            <a:ext cx="914400" cy="50292"/>
          </a:xfrm>
          <a:prstGeom prst="rect">
            <a:avLst/>
          </a:prstGeom>
          <a:solidFill>
            <a:srgbClr val="2A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B1C0D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5257800" cy="1508760"/>
          </a:xfrm>
          <a:prstGeom prst="roundRect">
            <a:avLst/>
          </a:prstGeom>
          <a:solidFill>
            <a:srgbClr val="16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874519"/>
            <a:ext cx="64008" cy="1508760"/>
          </a:xfrm>
          <a:prstGeom prst="rect">
            <a:avLst/>
          </a:prstGeom>
          <a:solidFill>
            <a:srgbClr val="2A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11679"/>
            <a:ext cx="4892040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5F8FF"/>
                </a:solidFill>
                <a:latin typeface="Aptos"/>
              </a:defRPr>
            </a:pPr>
            <a:r>
              <a:t>01  Network traffic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423160"/>
            <a:ext cx="4892040" cy="8686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1C0D6"/>
                </a:solidFill>
                <a:latin typeface="Aptos"/>
              </a:defRPr>
            </a:pPr>
            <a:r>
              <a:t>Used Wireshark to inspect packets, DNS activity, and network conversations.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74519"/>
            <a:ext cx="5257800" cy="1508760"/>
          </a:xfrm>
          <a:prstGeom prst="roundRect">
            <a:avLst/>
          </a:prstGeom>
          <a:solidFill>
            <a:srgbClr val="16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874519"/>
            <a:ext cx="64008" cy="1508760"/>
          </a:xfrm>
          <a:prstGeom prst="rect">
            <a:avLst/>
          </a:prstGeom>
          <a:solidFill>
            <a:srgbClr val="46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2011679"/>
            <a:ext cx="4892040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5F8FF"/>
                </a:solidFill>
                <a:latin typeface="Aptos"/>
              </a:defRPr>
            </a:pPr>
            <a:r>
              <a:t>02  System &amp; web logs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423160"/>
            <a:ext cx="4892040" cy="8686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1C0D6"/>
                </a:solidFill>
                <a:latin typeface="Aptos"/>
              </a:defRPr>
            </a:pPr>
            <a:r>
              <a:t>Explored Linux activity and analysed an Apache access-log sample.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703320"/>
            <a:ext cx="5257800" cy="1508760"/>
          </a:xfrm>
          <a:prstGeom prst="roundRect">
            <a:avLst/>
          </a:prstGeom>
          <a:solidFill>
            <a:srgbClr val="16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703320"/>
            <a:ext cx="64008" cy="1508760"/>
          </a:xfrm>
          <a:prstGeom prst="rect">
            <a:avLst/>
          </a:prstGeom>
          <a:solidFill>
            <a:srgbClr val="4D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3840480"/>
            <a:ext cx="4892040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5F8FF"/>
                </a:solidFill>
                <a:latin typeface="Aptos"/>
              </a:defRPr>
            </a:pPr>
            <a:r>
              <a:t>03  Threat frameworks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4251959"/>
            <a:ext cx="4892040" cy="8686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1C0D6"/>
                </a:solidFill>
                <a:latin typeface="Aptos"/>
              </a:defRPr>
            </a:pPr>
            <a:r>
              <a:t>Mapped phishing, PowerShell execution, and service discovery to MITRE ATT&amp;CK.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703320"/>
            <a:ext cx="5257800" cy="1508760"/>
          </a:xfrm>
          <a:prstGeom prst="roundRect">
            <a:avLst/>
          </a:prstGeom>
          <a:solidFill>
            <a:srgbClr val="16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703320"/>
            <a:ext cx="64008" cy="1508760"/>
          </a:xfrm>
          <a:prstGeom prst="rect">
            <a:avLst/>
          </a:prstGeom>
          <a:solidFill>
            <a:srgbClr val="FFB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3840480"/>
            <a:ext cx="4892040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5F8FF"/>
                </a:solidFill>
                <a:latin typeface="Aptos"/>
              </a:defRPr>
            </a:pPr>
            <a:r>
              <a:t>04  Detection tooling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251959"/>
            <a:ext cx="4892040" cy="8686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1C0D6"/>
                </a:solidFill>
                <a:latin typeface="Aptos"/>
              </a:defRPr>
            </a:pPr>
            <a:r>
              <a:t>Installed Snort, validated its configuration, and monitored traffic on eth0.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715000"/>
            <a:ext cx="1078992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46DCE8"/>
                </a:solidFill>
                <a:latin typeface="Aptos"/>
              </a:defRPr>
            </a:pPr>
            <a:r>
              <a:t>Goal: observe, investigate, document, and verify — the foundation of a security analyst workflow.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54864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46DCE8"/>
                </a:solidFill>
                <a:latin typeface="Aptos"/>
              </a:defRPr>
            </a:pPr>
            <a:r>
              <a:t>02 / NETWORK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5F8FF"/>
                </a:solidFill>
                <a:latin typeface="Aptos"/>
              </a:defRPr>
            </a:pPr>
            <a:r>
              <a:t>Wireshark: understanding packet 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9576"/>
            <a:ext cx="10972800" cy="34747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1C0D6"/>
                </a:solidFill>
                <a:latin typeface="Aptos"/>
              </a:defRPr>
            </a:pPr>
            <a:r>
              <a:t>Tasks 1 and 2 focused on inspecting traffic and using display filters.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27632"/>
            <a:ext cx="914400" cy="50292"/>
          </a:xfrm>
          <a:prstGeom prst="rect">
            <a:avLst/>
          </a:prstGeom>
          <a:solidFill>
            <a:srgbClr val="2A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B1C0D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3520440" cy="1828800"/>
          </a:xfrm>
          <a:prstGeom prst="roundRect">
            <a:avLst/>
          </a:prstGeom>
          <a:solidFill>
            <a:srgbClr val="16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874519"/>
            <a:ext cx="64008" cy="1828800"/>
          </a:xfrm>
          <a:prstGeom prst="rect">
            <a:avLst/>
          </a:prstGeom>
          <a:solidFill>
            <a:srgbClr val="2A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11679"/>
            <a:ext cx="3154680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5F8FF"/>
                </a:solidFill>
                <a:latin typeface="Aptos"/>
              </a:defRPr>
            </a:pPr>
            <a:r>
              <a:t>What I inspected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423160"/>
            <a:ext cx="3154680" cy="11887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1C0D6"/>
                </a:solidFill>
                <a:latin typeface="Aptos"/>
              </a:defRPr>
            </a:pPr>
            <a:r>
              <a:t>Source and destination IPs, DNS queries, HTTP requests, and TCP/HTTPS traffic.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874519"/>
            <a:ext cx="3520440" cy="1828800"/>
          </a:xfrm>
          <a:prstGeom prst="roundRect">
            <a:avLst/>
          </a:prstGeom>
          <a:solidFill>
            <a:srgbClr val="16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874519"/>
            <a:ext cx="64008" cy="1828800"/>
          </a:xfrm>
          <a:prstGeom prst="rect">
            <a:avLst/>
          </a:prstGeom>
          <a:solidFill>
            <a:srgbClr val="46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2011679"/>
            <a:ext cx="3154680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5F8FF"/>
                </a:solidFill>
                <a:latin typeface="Aptos"/>
              </a:defRPr>
            </a:pPr>
            <a:r>
              <a:t>Filters practised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423160"/>
            <a:ext cx="3154680" cy="11887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1C0D6"/>
                </a:solidFill>
                <a:latin typeface="Aptos"/>
              </a:defRPr>
            </a:pPr>
            <a:r>
              <a:t>http</a:t>
            </a:r>
          </a:p>
          <a:p>
            <a:pPr>
              <a:spcAft>
                <a:spcPts val="700"/>
              </a:spcAft>
              <a:defRPr sz="1500" b="0">
                <a:solidFill>
                  <a:srgbClr val="B1C0D6"/>
                </a:solidFill>
                <a:latin typeface="Aptos"/>
              </a:defRPr>
            </a:pPr>
            <a:r>
              <a:t>dns</a:t>
            </a:r>
          </a:p>
          <a:p>
            <a:pPr>
              <a:spcAft>
                <a:spcPts val="700"/>
              </a:spcAft>
              <a:defRPr sz="1500" b="0">
                <a:solidFill>
                  <a:srgbClr val="B1C0D6"/>
                </a:solidFill>
                <a:latin typeface="Aptos"/>
              </a:defRPr>
            </a:pPr>
            <a:r>
              <a:t>tcp.port == 443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874519"/>
            <a:ext cx="3520440" cy="1828800"/>
          </a:xfrm>
          <a:prstGeom prst="roundRect">
            <a:avLst/>
          </a:prstGeom>
          <a:solidFill>
            <a:srgbClr val="16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1874519"/>
            <a:ext cx="64008" cy="1828800"/>
          </a:xfrm>
          <a:prstGeom prst="rect">
            <a:avLst/>
          </a:prstGeom>
          <a:solidFill>
            <a:srgbClr val="4D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2168" y="2011679"/>
            <a:ext cx="3154680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5F8FF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2168" y="2423160"/>
            <a:ext cx="3154680" cy="11887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1C0D6"/>
                </a:solidFill>
                <a:latin typeface="Aptos"/>
              </a:defRPr>
            </a:pPr>
            <a:r>
              <a:t>Packet analysis helps analysts understand connections and identify traffic that needs further investigation.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160520"/>
            <a:ext cx="10515600" cy="914400"/>
          </a:xfrm>
          <a:prstGeom prst="roundRect">
            <a:avLst/>
          </a:prstGeom>
          <a:solidFill>
            <a:srgbClr val="060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4233672"/>
            <a:ext cx="10222992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46DCE8"/>
                </a:solidFill>
                <a:latin typeface="Aptos"/>
              </a:defRPr>
            </a:pPr>
            <a:r>
              <a:t>WIRESHARK DISPLAY FILTERS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" y="4480559"/>
            <a:ext cx="10222992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5F8FF"/>
                </a:solidFill>
                <a:latin typeface="Cascadia Code"/>
              </a:defRPr>
            </a:pPr>
            <a:r>
              <a:t>http     |     dns     |     tcp.port == 443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349240"/>
            <a:ext cx="103327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1C0D6"/>
                </a:solidFill>
                <a:latin typeface="Aptos"/>
              </a:defRPr>
            </a:pPr>
            <a:r>
              <a:t>Learning: filters narrow a large capture to traffic of interest; context is still needed to interpret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54864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46DCE8"/>
                </a:solidFill>
                <a:latin typeface="Aptos"/>
              </a:defRPr>
            </a:pPr>
            <a:r>
              <a:t>03 / LOG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5F8FF"/>
                </a:solidFill>
                <a:latin typeface="Aptos"/>
              </a:defRPr>
            </a:pPr>
            <a:r>
              <a:t>Linux logs: investigating system 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9576"/>
            <a:ext cx="10972800" cy="34747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1C0D6"/>
                </a:solidFill>
                <a:latin typeface="Aptos"/>
              </a:defRPr>
            </a:pPr>
            <a:r>
              <a:t>I used Kali Linux and explored available journal entries when the expected files were absent.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27632"/>
            <a:ext cx="914400" cy="50292"/>
          </a:xfrm>
          <a:prstGeom prst="rect">
            <a:avLst/>
          </a:prstGeom>
          <a:solidFill>
            <a:srgbClr val="2A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B1C0D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5166360" cy="1554480"/>
          </a:xfrm>
          <a:prstGeom prst="roundRect">
            <a:avLst/>
          </a:prstGeom>
          <a:solidFill>
            <a:srgbClr val="16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74519"/>
            <a:ext cx="64008" cy="1554480"/>
          </a:xfrm>
          <a:prstGeom prst="rect">
            <a:avLst/>
          </a:prstGeom>
          <a:solidFill>
            <a:srgbClr val="2A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11679"/>
            <a:ext cx="4800600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5F8FF"/>
                </a:solidFill>
                <a:latin typeface="Aptos"/>
              </a:defRPr>
            </a:pPr>
            <a:r>
              <a:t>Expected files in the task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423160"/>
            <a:ext cx="4800600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1C0D6"/>
                </a:solidFill>
                <a:latin typeface="Aptos"/>
              </a:defRPr>
            </a:pPr>
            <a:r>
              <a:t>/var/log/auth.log</a:t>
            </a:r>
          </a:p>
          <a:p>
            <a:pPr>
              <a:spcAft>
                <a:spcPts val="700"/>
              </a:spcAft>
              <a:defRPr sz="1500" b="0">
                <a:solidFill>
                  <a:srgbClr val="B1C0D6"/>
                </a:solidFill>
                <a:latin typeface="Aptos"/>
              </a:defRPr>
            </a:pPr>
            <a:r>
              <a:t>/var/log/syslog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874519"/>
            <a:ext cx="5166360" cy="1554480"/>
          </a:xfrm>
          <a:prstGeom prst="roundRect">
            <a:avLst/>
          </a:prstGeom>
          <a:solidFill>
            <a:srgbClr val="16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874519"/>
            <a:ext cx="64008" cy="1554480"/>
          </a:xfrm>
          <a:prstGeom prst="rect">
            <a:avLst/>
          </a:prstGeom>
          <a:solidFill>
            <a:srgbClr val="FFB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2011679"/>
            <a:ext cx="4800600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5F8FF"/>
                </a:solidFill>
                <a:latin typeface="Aptos"/>
              </a:defRPr>
            </a:pPr>
            <a:r>
              <a:t>What happened on my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423160"/>
            <a:ext cx="4800600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1C0D6"/>
                </a:solidFill>
                <a:latin typeface="Aptos"/>
              </a:defRPr>
            </a:pPr>
            <a:r>
              <a:t>Those files were not present in my Kali setup, so I used journalctl to inspect available system and authentication activity.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886200"/>
            <a:ext cx="10424160" cy="822960"/>
          </a:xfrm>
          <a:prstGeom prst="roundRect">
            <a:avLst/>
          </a:prstGeom>
          <a:solidFill>
            <a:srgbClr val="060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" y="3959352"/>
            <a:ext cx="10131552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46DCE8"/>
                </a:solidFill>
                <a:latin typeface="Aptos"/>
              </a:defRPr>
            </a:pPr>
            <a:r>
              <a:t>COMMAND USED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" y="4206240"/>
            <a:ext cx="10131552" cy="43891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5F8FF"/>
                </a:solidFill>
                <a:latin typeface="Cascadia Code"/>
              </a:defRPr>
            </a:pPr>
            <a:r>
              <a:t>journalctl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029200"/>
            <a:ext cx="10424160" cy="7315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1C0D6"/>
                </a:solidFill>
                <a:latin typeface="Aptos"/>
              </a:defRPr>
            </a:pPr>
            <a:r>
              <a:t>Limitation: this was an alternative approach on Kali, not an exact reproduction of the Ubuntu-specific task. The screenshots document the activity I could verify.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54864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46DCE8"/>
                </a:solidFill>
                <a:latin typeface="Aptos"/>
              </a:defRPr>
            </a:pPr>
            <a:r>
              <a:t>04 / WEB LOG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5F8FF"/>
                </a:solidFill>
                <a:latin typeface="Aptos"/>
              </a:defRPr>
            </a:pPr>
            <a:r>
              <a:t>Apache logs: finding frequent source 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9576"/>
            <a:ext cx="10972800" cy="34747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1C0D6"/>
                </a:solidFill>
                <a:latin typeface="Aptos"/>
              </a:defRPr>
            </a:pPr>
            <a:r>
              <a:t>I used Linux text-processing commands to count IP addresses in a sample Apache access log.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27632"/>
            <a:ext cx="914400" cy="50292"/>
          </a:xfrm>
          <a:prstGeom prst="rect">
            <a:avLst/>
          </a:prstGeom>
          <a:solidFill>
            <a:srgbClr val="2A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B1C0D6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10698480" cy="914400"/>
          </a:xfrm>
          <a:prstGeom prst="roundRect">
            <a:avLst/>
          </a:prstGeom>
          <a:solidFill>
            <a:srgbClr val="060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947672"/>
            <a:ext cx="10405872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46DCE8"/>
                </a:solidFill>
                <a:latin typeface="Aptos"/>
              </a:defRPr>
            </a:pPr>
            <a:r>
              <a:t>COMMAND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194560"/>
            <a:ext cx="10405872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5F8FF"/>
                </a:solidFill>
                <a:latin typeface="Cascadia Code"/>
              </a:defRPr>
            </a:pPr>
            <a:r>
              <a:t>awk '{print $1}' access.log | sort | uniq -c | sort -nr | head -3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6324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46DCE8"/>
                </a:solidFill>
                <a:latin typeface="Aptos"/>
              </a:defRPr>
            </a:pPr>
            <a:r>
              <a:t>TOP 3 SOURCE IPs IN THE SAMPLE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474720"/>
            <a:ext cx="10332720" cy="438912"/>
          </a:xfrm>
          <a:prstGeom prst="roundRect">
            <a:avLst/>
          </a:prstGeom>
          <a:solidFill>
            <a:srgbClr val="16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529584"/>
            <a:ext cx="128016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5F8FF"/>
                </a:solidFill>
                <a:latin typeface="Aptos"/>
              </a:defRPr>
            </a:pPr>
            <a:r>
              <a:t>482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529584"/>
            <a:ext cx="384048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1C0D6"/>
                </a:solidFill>
                <a:latin typeface="Cascadia Code"/>
              </a:defRPr>
            </a:pPr>
            <a:r>
              <a:t>66.249.73.135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041648"/>
            <a:ext cx="10332720" cy="438912"/>
          </a:xfrm>
          <a:prstGeom prst="roundRect">
            <a:avLst/>
          </a:prstGeom>
          <a:solidFill>
            <a:srgbClr val="16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096511"/>
            <a:ext cx="128016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5F8FF"/>
                </a:solidFill>
                <a:latin typeface="Aptos"/>
              </a:defRPr>
            </a:pPr>
            <a:r>
              <a:t>364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4096511"/>
            <a:ext cx="384048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1C0D6"/>
                </a:solidFill>
                <a:latin typeface="Cascadia Code"/>
              </a:defRPr>
            </a:pPr>
            <a:r>
              <a:t>46.105.14.53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608576"/>
            <a:ext cx="10332720" cy="438912"/>
          </a:xfrm>
          <a:prstGeom prst="roundRect">
            <a:avLst/>
          </a:prstGeom>
          <a:solidFill>
            <a:srgbClr val="16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663440"/>
            <a:ext cx="128016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5F8FF"/>
                </a:solidFill>
                <a:latin typeface="Aptos"/>
              </a:defRPr>
            </a:pPr>
            <a:r>
              <a:t>357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663440"/>
            <a:ext cx="384048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1C0D6"/>
                </a:solidFill>
                <a:latin typeface="Cascadia Code"/>
              </a:defRPr>
            </a:pPr>
            <a:r>
              <a:t>130.237.218.86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440680"/>
            <a:ext cx="103327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BF5A"/>
                </a:solidFill>
                <a:latin typeface="Aptos"/>
              </a:defRPr>
            </a:pPr>
            <a:r>
              <a:t>These counts come from the sample file only. Frequent requests do not automatically mean malicious activity.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54864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46DCE8"/>
                </a:solidFill>
                <a:latin typeface="Aptos"/>
              </a:defRPr>
            </a:pPr>
            <a:r>
              <a:t>05 / THREAT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5F8FF"/>
                </a:solidFill>
                <a:latin typeface="Aptos"/>
              </a:defRPr>
            </a:pPr>
            <a:r>
              <a:t>MITRE ATT&amp;CK: connecting behaviour to techniques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9576"/>
            <a:ext cx="10972800" cy="34747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1C0D6"/>
                </a:solidFill>
                <a:latin typeface="Aptos"/>
              </a:defRPr>
            </a:pPr>
            <a:r>
              <a:t>I mapped three example behaviours to documented ATT&amp;CK techniques and tactics.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27632"/>
            <a:ext cx="914400" cy="50292"/>
          </a:xfrm>
          <a:prstGeom prst="rect">
            <a:avLst/>
          </a:prstGeom>
          <a:solidFill>
            <a:srgbClr val="2A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B1C0D6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3520440" cy="2057400"/>
          </a:xfrm>
          <a:prstGeom prst="roundRect">
            <a:avLst/>
          </a:prstGeom>
          <a:solidFill>
            <a:srgbClr val="16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74519"/>
            <a:ext cx="64008" cy="2057400"/>
          </a:xfrm>
          <a:prstGeom prst="rect">
            <a:avLst/>
          </a:prstGeom>
          <a:solidFill>
            <a:srgbClr val="2A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11679"/>
            <a:ext cx="3154680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5F8FF"/>
                </a:solidFill>
                <a:latin typeface="Aptos"/>
              </a:defRPr>
            </a:pPr>
            <a:r>
              <a:t>PHISHING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423160"/>
            <a:ext cx="3154680" cy="1417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1C0D6"/>
                </a:solidFill>
                <a:latin typeface="Aptos"/>
              </a:defRPr>
            </a:pPr>
            <a:r>
              <a:t>T1566.002</a:t>
            </a:r>
          </a:p>
          <a:p>
            <a:pPr>
              <a:spcAft>
                <a:spcPts val="700"/>
              </a:spcAft>
              <a:defRPr sz="1400" b="0">
                <a:solidFill>
                  <a:srgbClr val="B1C0D6"/>
                </a:solidFill>
                <a:latin typeface="Aptos"/>
              </a:defRPr>
            </a:pPr>
            <a:r>
              <a:t>Spearphishing Link</a:t>
            </a:r>
          </a:p>
          <a:p>
            <a:pPr>
              <a:spcAft>
                <a:spcPts val="700"/>
              </a:spcAft>
              <a:defRPr sz="1400" b="0">
                <a:solidFill>
                  <a:srgbClr val="B1C0D6"/>
                </a:solidFill>
                <a:latin typeface="Aptos"/>
              </a:defRPr>
            </a:pPr>
            <a:r>
              <a:t>Tactic: Initial Access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874519"/>
            <a:ext cx="3520440" cy="2057400"/>
          </a:xfrm>
          <a:prstGeom prst="roundRect">
            <a:avLst/>
          </a:prstGeom>
          <a:solidFill>
            <a:srgbClr val="16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874519"/>
            <a:ext cx="64008" cy="2057400"/>
          </a:xfrm>
          <a:prstGeom prst="rect">
            <a:avLst/>
          </a:prstGeom>
          <a:solidFill>
            <a:srgbClr val="46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2011679"/>
            <a:ext cx="3154680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5F8FF"/>
                </a:solidFill>
                <a:latin typeface="Aptos"/>
              </a:defRPr>
            </a:pPr>
            <a:r>
              <a:t>POWERSHELL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423160"/>
            <a:ext cx="3154680" cy="1417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1C0D6"/>
                </a:solidFill>
                <a:latin typeface="Aptos"/>
              </a:defRPr>
            </a:pPr>
            <a:r>
              <a:t>T1059.001</a:t>
            </a:r>
          </a:p>
          <a:p>
            <a:pPr>
              <a:spcAft>
                <a:spcPts val="700"/>
              </a:spcAft>
              <a:defRPr sz="1400" b="0">
                <a:solidFill>
                  <a:srgbClr val="B1C0D6"/>
                </a:solidFill>
                <a:latin typeface="Aptos"/>
              </a:defRPr>
            </a:pPr>
            <a:r>
              <a:t>PowerShell</a:t>
            </a:r>
          </a:p>
          <a:p>
            <a:pPr>
              <a:spcAft>
                <a:spcPts val="700"/>
              </a:spcAft>
              <a:defRPr sz="1400" b="0">
                <a:solidFill>
                  <a:srgbClr val="B1C0D6"/>
                </a:solidFill>
                <a:latin typeface="Aptos"/>
              </a:defRPr>
            </a:pPr>
            <a:r>
              <a:t>Tactic: Execution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1874519"/>
            <a:ext cx="3520440" cy="2057400"/>
          </a:xfrm>
          <a:prstGeom prst="roundRect">
            <a:avLst/>
          </a:prstGeom>
          <a:solidFill>
            <a:srgbClr val="16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79" y="1874519"/>
            <a:ext cx="64008" cy="2057400"/>
          </a:xfrm>
          <a:prstGeom prst="rect">
            <a:avLst/>
          </a:prstGeom>
          <a:solidFill>
            <a:srgbClr val="4D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56448" y="2011679"/>
            <a:ext cx="3154680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5F8FF"/>
                </a:solidFill>
                <a:latin typeface="Aptos"/>
              </a:defRPr>
            </a:pPr>
            <a:r>
              <a:t>NETWORK SCANNING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8" y="2423160"/>
            <a:ext cx="3154680" cy="1417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1C0D6"/>
                </a:solidFill>
                <a:latin typeface="Aptos"/>
              </a:defRPr>
            </a:pPr>
            <a:r>
              <a:t>T1046</a:t>
            </a:r>
          </a:p>
          <a:p>
            <a:pPr>
              <a:spcAft>
                <a:spcPts val="700"/>
              </a:spcAft>
              <a:defRPr sz="1300" b="0">
                <a:solidFill>
                  <a:srgbClr val="B1C0D6"/>
                </a:solidFill>
                <a:latin typeface="Aptos"/>
              </a:defRPr>
            </a:pPr>
            <a:r>
              <a:t>Network Service Discovery</a:t>
            </a:r>
          </a:p>
          <a:p>
            <a:pPr>
              <a:spcAft>
                <a:spcPts val="700"/>
              </a:spcAft>
              <a:defRPr sz="1300" b="0">
                <a:solidFill>
                  <a:srgbClr val="B1C0D6"/>
                </a:solidFill>
                <a:latin typeface="Aptos"/>
              </a:defRPr>
            </a:pPr>
            <a:r>
              <a:t>Tactic: Discovery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389120"/>
            <a:ext cx="10607040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5F8FF"/>
                </a:solidFill>
                <a:latin typeface="Aptos"/>
              </a:defRPr>
            </a:pPr>
            <a:r>
              <a:t>ATT&amp;CK gives analysts a shared vocabulary for describing adversary behaviour. A technique mapping is a starting point for investigation, not proof that an attack occurred.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623560"/>
            <a:ext cx="105156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B1C0D6"/>
                </a:solidFill>
                <a:latin typeface="Aptos"/>
              </a:defRPr>
            </a:pPr>
            <a:r>
              <a:t>Reference: attack.mitre.org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54864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46DCE8"/>
                </a:solidFill>
                <a:latin typeface="Aptos"/>
              </a:defRPr>
            </a:pPr>
            <a:r>
              <a:t>06 / NETWORK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5F8FF"/>
                </a:solidFill>
                <a:latin typeface="Aptos"/>
              </a:defRPr>
            </a:pPr>
            <a:r>
              <a:t>Snort: installation and configuration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9576"/>
            <a:ext cx="10972800" cy="34747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1C0D6"/>
                </a:solidFill>
                <a:latin typeface="Aptos"/>
              </a:defRPr>
            </a:pPr>
            <a:r>
              <a:t>I installed Snort++ in Kali Linux and verified that the configuration test completed successfully.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27632"/>
            <a:ext cx="914400" cy="50292"/>
          </a:xfrm>
          <a:prstGeom prst="rect">
            <a:avLst/>
          </a:prstGeom>
          <a:solidFill>
            <a:srgbClr val="2A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B1C0D6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3429000" cy="1554480"/>
          </a:xfrm>
          <a:prstGeom prst="roundRect">
            <a:avLst/>
          </a:prstGeom>
          <a:solidFill>
            <a:srgbClr val="16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74519"/>
            <a:ext cx="64008" cy="1554480"/>
          </a:xfrm>
          <a:prstGeom prst="rect">
            <a:avLst/>
          </a:prstGeom>
          <a:solidFill>
            <a:srgbClr val="2A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11679"/>
            <a:ext cx="3063240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5F8FF"/>
                </a:solidFill>
                <a:latin typeface="Aptos"/>
              </a:defRPr>
            </a:pPr>
            <a:r>
              <a:t>Installed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423160"/>
            <a:ext cx="3063240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1C0D6"/>
                </a:solidFill>
                <a:latin typeface="Aptos"/>
              </a:defRPr>
            </a:pPr>
            <a:r>
              <a:t>Snort++ version 3.12.2.0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74519"/>
            <a:ext cx="3429000" cy="1554480"/>
          </a:xfrm>
          <a:prstGeom prst="roundRect">
            <a:avLst/>
          </a:prstGeom>
          <a:solidFill>
            <a:srgbClr val="16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874519"/>
            <a:ext cx="64008" cy="1554480"/>
          </a:xfrm>
          <a:prstGeom prst="rect">
            <a:avLst/>
          </a:prstGeom>
          <a:solidFill>
            <a:srgbClr val="46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2011679"/>
            <a:ext cx="3063240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5F8FF"/>
                </a:solidFill>
                <a:latin typeface="Aptos"/>
              </a:defRPr>
            </a:pPr>
            <a:r>
              <a:t>Config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423160"/>
            <a:ext cx="3063240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1C0D6"/>
                </a:solidFill>
                <a:latin typeface="Aptos"/>
              </a:defRPr>
            </a:pPr>
            <a:r>
              <a:t>snort -c /etc/snort/snort.lua -T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874519"/>
            <a:ext cx="3429000" cy="1554480"/>
          </a:xfrm>
          <a:prstGeom prst="roundRect">
            <a:avLst/>
          </a:prstGeom>
          <a:solidFill>
            <a:srgbClr val="16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874519"/>
            <a:ext cx="64008" cy="1554480"/>
          </a:xfrm>
          <a:prstGeom prst="rect">
            <a:avLst/>
          </a:prstGeom>
          <a:solidFill>
            <a:srgbClr val="4D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2011679"/>
            <a:ext cx="3063240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5F8FF"/>
                </a:solidFill>
                <a:latin typeface="Aptos"/>
              </a:defRPr>
            </a:pPr>
            <a:r>
              <a:t>Reported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423160"/>
            <a:ext cx="3063240" cy="9144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1C0D6"/>
                </a:solidFill>
                <a:latin typeface="Aptos"/>
              </a:defRPr>
            </a:pPr>
            <a:r>
              <a:t>219 rules loaded</a:t>
            </a:r>
          </a:p>
          <a:p>
            <a:pPr>
              <a:spcAft>
                <a:spcPts val="700"/>
              </a:spcAft>
              <a:defRPr sz="1500" b="0">
                <a:solidFill>
                  <a:srgbClr val="B1C0D6"/>
                </a:solidFill>
                <a:latin typeface="Aptos"/>
              </a:defRPr>
            </a:pPr>
            <a:r>
              <a:t>0 warnings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931920"/>
            <a:ext cx="10424160" cy="868680"/>
          </a:xfrm>
          <a:prstGeom prst="roundRect">
            <a:avLst/>
          </a:prstGeom>
          <a:solidFill>
            <a:srgbClr val="060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4005072"/>
            <a:ext cx="10131552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46DCE8"/>
                </a:solidFill>
                <a:latin typeface="Aptos"/>
              </a:defRPr>
            </a:pPr>
            <a:r>
              <a:t>CONFIGURATION VALIDATION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" y="4251959"/>
            <a:ext cx="10131552" cy="4846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5F8FF"/>
                </a:solidFill>
                <a:latin typeface="Cascadia Code"/>
              </a:defRPr>
            </a:pPr>
            <a:r>
              <a:t>snort -c /etc/snort/snort.lua -T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120640"/>
            <a:ext cx="10332720" cy="6400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BF5A"/>
                </a:solidFill>
                <a:latin typeface="Aptos"/>
              </a:defRPr>
            </a:pPr>
            <a:r>
              <a:t>This confirmed the main configuration test passed at that point. It did not confirm that my custom ICMP rule was loaded.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54864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46DCE8"/>
                </a:solidFill>
                <a:latin typeface="Aptos"/>
              </a:defRPr>
            </a:pPr>
            <a:r>
              <a:t>06 / NETWORK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5F8FF"/>
                </a:solidFill>
                <a:latin typeface="Aptos"/>
              </a:defRPr>
            </a:pPr>
            <a:r>
              <a:t>Snort: monitoring live interface traffic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9576"/>
            <a:ext cx="10972800" cy="34747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1C0D6"/>
                </a:solidFill>
                <a:latin typeface="Aptos"/>
              </a:defRPr>
            </a:pPr>
            <a:r>
              <a:t>I identified the active interface and ran Snort in verbose packet-monitoring mode.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27632"/>
            <a:ext cx="914400" cy="50292"/>
          </a:xfrm>
          <a:prstGeom prst="rect">
            <a:avLst/>
          </a:prstGeom>
          <a:solidFill>
            <a:srgbClr val="2A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B1C0D6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5166360" cy="868680"/>
          </a:xfrm>
          <a:prstGeom prst="roundRect">
            <a:avLst/>
          </a:prstGeom>
          <a:solidFill>
            <a:srgbClr val="060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901952"/>
            <a:ext cx="4873752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46DCE8"/>
                </a:solidFill>
                <a:latin typeface="Aptos"/>
              </a:defRPr>
            </a:pPr>
            <a:r>
              <a:t>INTERFACE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2148840"/>
            <a:ext cx="4873752" cy="4846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5F8FF"/>
                </a:solidFill>
                <a:latin typeface="Cascadia Code"/>
              </a:defRPr>
            </a:pPr>
            <a:r>
              <a:t>ip -br addr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166360" cy="868680"/>
          </a:xfrm>
          <a:prstGeom prst="roundRect">
            <a:avLst/>
          </a:prstGeom>
          <a:solidFill>
            <a:srgbClr val="060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4224" y="1901952"/>
            <a:ext cx="4873752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46DCE8"/>
                </a:solidFill>
                <a:latin typeface="Aptos"/>
              </a:defRPr>
            </a:pPr>
            <a:r>
              <a:t>PACKET MONITORING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2148840"/>
            <a:ext cx="4873752" cy="4846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5F8FF"/>
                </a:solidFill>
                <a:latin typeface="Cascadia Code"/>
              </a:defRPr>
            </a:pPr>
            <a:r>
              <a:t>sudo snort -c /etc/snort/snort.lua -i eth0 -v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246120"/>
            <a:ext cx="3200400" cy="1234440"/>
          </a:xfrm>
          <a:prstGeom prst="roundRect">
            <a:avLst/>
          </a:prstGeom>
          <a:solidFill>
            <a:srgbClr val="16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39" y="3456432"/>
            <a:ext cx="2926080" cy="43891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700"/>
              </a:spcAft>
              <a:defRPr sz="2700" b="1">
                <a:solidFill>
                  <a:srgbClr val="46DCE8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39" y="3977639"/>
            <a:ext cx="292608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B1C0D6"/>
                </a:solidFill>
                <a:latin typeface="Aptos"/>
              </a:defRPr>
            </a:pPr>
            <a:r>
              <a:t>Packets received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80" y="3246120"/>
            <a:ext cx="3200400" cy="1234440"/>
          </a:xfrm>
          <a:prstGeom prst="roundRect">
            <a:avLst/>
          </a:prstGeom>
          <a:solidFill>
            <a:srgbClr val="16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3456432"/>
            <a:ext cx="2926080" cy="43891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700"/>
              </a:spcAft>
              <a:defRPr sz="2700" b="1">
                <a:solidFill>
                  <a:srgbClr val="46DCE8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977639"/>
            <a:ext cx="292608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B1C0D6"/>
                </a:solidFill>
                <a:latin typeface="Aptos"/>
              </a:defRPr>
            </a:pPr>
            <a:r>
              <a:t>Packets analysed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79" y="3246120"/>
            <a:ext cx="3200400" cy="1234440"/>
          </a:xfrm>
          <a:prstGeom prst="roundRect">
            <a:avLst/>
          </a:prstGeom>
          <a:solidFill>
            <a:srgbClr val="16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3456432"/>
            <a:ext cx="2926080" cy="43891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700"/>
              </a:spcAft>
              <a:defRPr sz="2700" b="1">
                <a:solidFill>
                  <a:srgbClr val="46DCE8"/>
                </a:solidFill>
                <a:latin typeface="Aptos"/>
              </a:defRPr>
            </a:pPr>
            <a:r>
              <a:t>2,490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977639"/>
            <a:ext cx="2926080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B1C0D6"/>
                </a:solidFill>
                <a:latin typeface="Aptos"/>
              </a:defRPr>
            </a:pPr>
            <a:r>
              <a:t>Bytes received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983480"/>
            <a:ext cx="10424160" cy="6858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5F8FF"/>
                </a:solidFill>
                <a:latin typeface="Aptos"/>
              </a:defRPr>
            </a:pPr>
            <a:r>
              <a:t>The capture showed that Snort could monitor traffic on eth0. I stopped the session manually after collecting the output.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54864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46DCE8"/>
                </a:solidFill>
                <a:latin typeface="Aptos"/>
              </a:defRPr>
            </a:pPr>
            <a:r>
              <a:t>07 /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5F8FF"/>
                </a:solidFill>
                <a:latin typeface="Aptos"/>
              </a:defRPr>
            </a:pPr>
            <a:r>
              <a:t>Custom ICMP rule: documenting the limitation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9576"/>
            <a:ext cx="10972800" cy="34747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1C0D6"/>
                </a:solidFill>
                <a:latin typeface="Aptos"/>
              </a:defRPr>
            </a:pPr>
            <a:r>
              <a:t>I added a local rule intended to alert when ICMP traffic is detected.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27632"/>
            <a:ext cx="914400" cy="50292"/>
          </a:xfrm>
          <a:prstGeom prst="rect">
            <a:avLst/>
          </a:prstGeom>
          <a:solidFill>
            <a:srgbClr val="2A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B1C0D6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10561320" cy="1097280"/>
          </a:xfrm>
          <a:prstGeom prst="roundRect">
            <a:avLst/>
          </a:prstGeom>
          <a:solidFill>
            <a:srgbClr val="060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947672"/>
            <a:ext cx="10268712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900" b="1">
                <a:solidFill>
                  <a:srgbClr val="46DCE8"/>
                </a:solidFill>
                <a:latin typeface="Aptos"/>
              </a:defRPr>
            </a:pPr>
            <a:r>
              <a:t>LOCAL RULE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2194560"/>
            <a:ext cx="10268712" cy="7132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5F8FF"/>
                </a:solidFill>
                <a:latin typeface="Cascadia Code"/>
              </a:defRPr>
            </a:pPr>
            <a:r>
              <a:t>alert icmp any any -&gt; any any (msg:"ICMP Ping Detected"; sid:1000001; rev:1;)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429000"/>
            <a:ext cx="4937760" cy="1371600"/>
          </a:xfrm>
          <a:prstGeom prst="roundRect">
            <a:avLst/>
          </a:prstGeom>
          <a:solidFill>
            <a:srgbClr val="16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429000"/>
            <a:ext cx="64008" cy="1371600"/>
          </a:xfrm>
          <a:prstGeom prst="rect">
            <a:avLst/>
          </a:prstGeom>
          <a:solidFill>
            <a:srgbClr val="4D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3566160"/>
            <a:ext cx="4572000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5F8FF"/>
                </a:solidFill>
                <a:latin typeface="Aptos"/>
              </a:defRPr>
            </a:pPr>
            <a:r>
              <a:t>Completed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3977639"/>
            <a:ext cx="4572000" cy="7315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1C0D6"/>
                </a:solidFill>
                <a:latin typeface="Aptos"/>
              </a:defRPr>
            </a:pPr>
            <a:r>
              <a:t>The rule was saved in /etc/snort/rules/local.rules.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429000"/>
            <a:ext cx="4937760" cy="1371600"/>
          </a:xfrm>
          <a:prstGeom prst="roundRect">
            <a:avLst/>
          </a:prstGeom>
          <a:solidFill>
            <a:srgbClr val="16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3429000"/>
            <a:ext cx="64008" cy="1371600"/>
          </a:xfrm>
          <a:prstGeom prst="rect">
            <a:avLst/>
          </a:prstGeom>
          <a:solidFill>
            <a:srgbClr val="FFB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3566160"/>
            <a:ext cx="4572000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5F8FF"/>
                </a:solidFill>
                <a:latin typeface="Aptos"/>
              </a:defRPr>
            </a:pPr>
            <a:r>
              <a:t>Not yet verified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3977639"/>
            <a:ext cx="4572000" cy="7315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1C0D6"/>
                </a:solidFill>
                <a:latin typeface="Aptos"/>
              </a:defRPr>
            </a:pPr>
            <a:r>
              <a:t>The test still showed 219 loaded rules, so I could not confirm that the custom rule loaded or generated alerts.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257800"/>
            <a:ext cx="10332720" cy="5943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1C0D6"/>
                </a:solidFill>
                <a:latin typeface="Aptos"/>
              </a:defRPr>
            </a:pPr>
            <a:r>
              <a:t>Next step: correct the include configuration, rerun the test, and generate controlled ping traffic to verify an alert.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54864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46DCE8"/>
                </a:solidFill>
                <a:latin typeface="Aptos"/>
              </a:defRPr>
            </a:pPr>
            <a:r>
              <a:t>08 / 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5F8FF"/>
                </a:solidFill>
                <a:latin typeface="Aptos"/>
              </a:defRPr>
            </a:pPr>
            <a:r>
              <a:t>Challenges and how I responded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9576"/>
            <a:ext cx="10972800" cy="34747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1C0D6"/>
                </a:solidFill>
                <a:latin typeface="Aptos"/>
              </a:defRPr>
            </a:pPr>
            <a:r>
              <a:t>Troubleshooting was part of the learning process this week.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27632"/>
            <a:ext cx="914400" cy="50292"/>
          </a:xfrm>
          <a:prstGeom prst="rect">
            <a:avLst/>
          </a:prstGeom>
          <a:solidFill>
            <a:srgbClr val="2A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B1C0D6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166360" cy="1508760"/>
          </a:xfrm>
          <a:prstGeom prst="roundRect">
            <a:avLst/>
          </a:prstGeom>
          <a:solidFill>
            <a:srgbClr val="16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64008" cy="1508760"/>
          </a:xfrm>
          <a:prstGeom prst="rect">
            <a:avLst/>
          </a:prstGeom>
          <a:solidFill>
            <a:srgbClr val="2A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65960"/>
            <a:ext cx="4800600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5F8FF"/>
                </a:solidFill>
                <a:latin typeface="Aptos"/>
              </a:defRPr>
            </a:pPr>
            <a:r>
              <a:t>Challenge 1 — Linux log paths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77440"/>
            <a:ext cx="4800600" cy="8686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1C0D6"/>
                </a:solidFill>
                <a:latin typeface="Aptos"/>
              </a:defRPr>
            </a:pPr>
            <a:r>
              <a:t>Kali did not have the expected Ubuntu log files. I used journalctl and documented the limitation.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5166360" cy="1508760"/>
          </a:xfrm>
          <a:prstGeom prst="roundRect">
            <a:avLst/>
          </a:prstGeom>
          <a:solidFill>
            <a:srgbClr val="16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828800"/>
            <a:ext cx="64008" cy="1508760"/>
          </a:xfrm>
          <a:prstGeom prst="rect">
            <a:avLst/>
          </a:prstGeom>
          <a:solidFill>
            <a:srgbClr val="FFB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965960"/>
            <a:ext cx="4800600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5F8FF"/>
                </a:solidFill>
                <a:latin typeface="Aptos"/>
              </a:defRPr>
            </a:pPr>
            <a:r>
              <a:t>Challenge 2 — Snort rule loading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377440"/>
            <a:ext cx="4800600" cy="8686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1C0D6"/>
                </a:solidFill>
                <a:latin typeface="Aptos"/>
              </a:defRPr>
            </a:pPr>
            <a:r>
              <a:t>The custom rule was not verified, so I avoided claiming successful alert generation.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57600"/>
            <a:ext cx="5166360" cy="1508760"/>
          </a:xfrm>
          <a:prstGeom prst="roundRect">
            <a:avLst/>
          </a:prstGeom>
          <a:solidFill>
            <a:srgbClr val="16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657600"/>
            <a:ext cx="64008" cy="1508760"/>
          </a:xfrm>
          <a:prstGeom prst="rect">
            <a:avLst/>
          </a:prstGeom>
          <a:solidFill>
            <a:srgbClr val="46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3794760"/>
            <a:ext cx="4800600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5F8FF"/>
                </a:solidFill>
                <a:latin typeface="Aptos"/>
              </a:defRPr>
            </a:pPr>
            <a:r>
              <a:t>Challenge 3 — Large log files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4206240"/>
            <a:ext cx="4800600" cy="8686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1C0D6"/>
                </a:solidFill>
                <a:latin typeface="Aptos"/>
              </a:defRPr>
            </a:pPr>
            <a:r>
              <a:t>Commands such as awk, sort, uniq, and head helped extract and rank Apache source IP counts.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657600"/>
            <a:ext cx="5166360" cy="1508760"/>
          </a:xfrm>
          <a:prstGeom prst="roundRect">
            <a:avLst/>
          </a:prstGeom>
          <a:solidFill>
            <a:srgbClr val="16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657600"/>
            <a:ext cx="64008" cy="1508760"/>
          </a:xfrm>
          <a:prstGeom prst="rect">
            <a:avLst/>
          </a:prstGeom>
          <a:solidFill>
            <a:srgbClr val="4D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3794760"/>
            <a:ext cx="4800600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5F8FF"/>
                </a:solidFill>
                <a:latin typeface="Aptos"/>
              </a:defRPr>
            </a:pPr>
            <a:r>
              <a:t>What helped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206240"/>
            <a:ext cx="4800600" cy="8686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1C0D6"/>
                </a:solidFill>
                <a:latin typeface="Aptos"/>
              </a:defRPr>
            </a:pPr>
            <a:r>
              <a:t>Breaking tasks into small steps, checking output, and saving screenshots made troubleshooting easier.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54864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46DCE8"/>
                </a:solidFill>
                <a:latin typeface="Aptos"/>
              </a:defRPr>
            </a:pPr>
            <a:r>
              <a:t>09 / SKILLS GAINED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3035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F5F8FF"/>
                </a:solidFill>
                <a:latin typeface="Aptos"/>
              </a:defRPr>
            </a:pPr>
            <a:r>
              <a:t>What I learned from the practical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9576"/>
            <a:ext cx="10972800" cy="34747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1C0D6"/>
                </a:solidFill>
                <a:latin typeface="Aptos"/>
              </a:defRPr>
            </a:pPr>
            <a:r>
              <a:t>These tasks helped me connect individual tools to the security analyst workflow.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27632"/>
            <a:ext cx="914400" cy="50292"/>
          </a:xfrm>
          <a:prstGeom prst="rect">
            <a:avLst/>
          </a:prstGeom>
          <a:solidFill>
            <a:srgbClr val="2A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50292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B1C0D6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3474720" cy="1280160"/>
          </a:xfrm>
          <a:prstGeom prst="roundRect">
            <a:avLst/>
          </a:prstGeom>
          <a:solidFill>
            <a:srgbClr val="16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74519"/>
            <a:ext cx="64008" cy="1280160"/>
          </a:xfrm>
          <a:prstGeom prst="rect">
            <a:avLst/>
          </a:prstGeom>
          <a:solidFill>
            <a:srgbClr val="2A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11679"/>
            <a:ext cx="3108960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5F8FF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423160"/>
            <a:ext cx="3108960" cy="6400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1C0D6"/>
                </a:solidFill>
                <a:latin typeface="Aptos"/>
              </a:defRPr>
            </a:pPr>
            <a:r>
              <a:t>Inspect packets and network protocols.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74519"/>
            <a:ext cx="3474720" cy="1280160"/>
          </a:xfrm>
          <a:prstGeom prst="roundRect">
            <a:avLst/>
          </a:prstGeom>
          <a:solidFill>
            <a:srgbClr val="16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1874519"/>
            <a:ext cx="64008" cy="1280160"/>
          </a:xfrm>
          <a:prstGeom prst="rect">
            <a:avLst/>
          </a:prstGeom>
          <a:solidFill>
            <a:srgbClr val="46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7448" y="2011679"/>
            <a:ext cx="3108960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5F8FF"/>
                </a:solidFill>
                <a:latin typeface="Aptos"/>
              </a:defRPr>
            </a:pPr>
            <a:r>
              <a:t>Investigate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2423160"/>
            <a:ext cx="3108960" cy="6400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1C0D6"/>
                </a:solidFill>
                <a:latin typeface="Aptos"/>
              </a:defRPr>
            </a:pPr>
            <a:r>
              <a:t>Use system and web logs to understand activity.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874519"/>
            <a:ext cx="3474720" cy="1280160"/>
          </a:xfrm>
          <a:prstGeom prst="roundRect">
            <a:avLst/>
          </a:prstGeom>
          <a:solidFill>
            <a:srgbClr val="16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21040" y="1874519"/>
            <a:ext cx="64008" cy="1280160"/>
          </a:xfrm>
          <a:prstGeom prst="rect">
            <a:avLst/>
          </a:prstGeom>
          <a:solidFill>
            <a:srgbClr val="4D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22208" y="2011679"/>
            <a:ext cx="3108960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5F8FF"/>
                </a:solidFill>
                <a:latin typeface="Aptos"/>
              </a:defRPr>
            </a:pPr>
            <a:r>
              <a:t>Correlate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22208" y="2423160"/>
            <a:ext cx="3108960" cy="6400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1C0D6"/>
                </a:solidFill>
                <a:latin typeface="Aptos"/>
              </a:defRPr>
            </a:pPr>
            <a:r>
              <a:t>Map behaviours to ATT&amp;CK techniques.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520439"/>
            <a:ext cx="3474720" cy="1280160"/>
          </a:xfrm>
          <a:prstGeom prst="roundRect">
            <a:avLst/>
          </a:prstGeom>
          <a:solidFill>
            <a:srgbClr val="16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520439"/>
            <a:ext cx="64008" cy="1280160"/>
          </a:xfrm>
          <a:prstGeom prst="rect">
            <a:avLst/>
          </a:prstGeom>
          <a:solidFill>
            <a:srgbClr val="FFB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3657599"/>
            <a:ext cx="3108960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5F8FF"/>
                </a:solidFill>
                <a:latin typeface="Aptos"/>
              </a:defRPr>
            </a:pPr>
            <a:r>
              <a:t>Monitor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4069079"/>
            <a:ext cx="3108960" cy="6400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1C0D6"/>
                </a:solidFill>
                <a:latin typeface="Aptos"/>
              </a:defRPr>
            </a:pPr>
            <a:r>
              <a:t>Validate Snort and inspect interface traffic.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26280" y="3520439"/>
            <a:ext cx="3474720" cy="1280160"/>
          </a:xfrm>
          <a:prstGeom prst="roundRect">
            <a:avLst/>
          </a:prstGeom>
          <a:solidFill>
            <a:srgbClr val="16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26280" y="3520439"/>
            <a:ext cx="64008" cy="1280160"/>
          </a:xfrm>
          <a:prstGeom prst="rect">
            <a:avLst/>
          </a:prstGeom>
          <a:solidFill>
            <a:srgbClr val="2A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27448" y="3657599"/>
            <a:ext cx="3108960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5F8FF"/>
                </a:solidFill>
                <a:latin typeface="Aptos"/>
              </a:defRPr>
            </a:pPr>
            <a:r>
              <a:t>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27448" y="4069079"/>
            <a:ext cx="3108960" cy="6400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1C0D6"/>
                </a:solidFill>
                <a:latin typeface="Aptos"/>
              </a:defRPr>
            </a:pPr>
            <a:r>
              <a:t>Separate confirmed results from assumptions.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1040" y="3520439"/>
            <a:ext cx="3474720" cy="1280160"/>
          </a:xfrm>
          <a:prstGeom prst="roundRect">
            <a:avLst/>
          </a:prstGeom>
          <a:solidFill>
            <a:srgbClr val="16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21040" y="3520439"/>
            <a:ext cx="64008" cy="1280160"/>
          </a:xfrm>
          <a:prstGeom prst="rect">
            <a:avLst/>
          </a:prstGeom>
          <a:solidFill>
            <a:srgbClr val="46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22208" y="3657599"/>
            <a:ext cx="3108960" cy="329184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5F8FF"/>
                </a:solidFill>
                <a:latin typeface="Aptos"/>
              </a:defRPr>
            </a:pPr>
            <a:r>
              <a:t>Document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22208" y="4069079"/>
            <a:ext cx="3108960" cy="6400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1C0D6"/>
                </a:solidFill>
                <a:latin typeface="Aptos"/>
              </a:defRPr>
            </a:pPr>
            <a:r>
              <a:t>Record commands, output, evidence, and next steps.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440680"/>
            <a:ext cx="1042416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46DCE8"/>
                </a:solidFill>
                <a:latin typeface="Aptos"/>
              </a:defRPr>
            </a:pPr>
            <a:r>
              <a:t>Key takeaway: good security analysis requires careful observation, context, and evidence-based conclusions.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955279" y="0"/>
            <a:ext cx="4236415" cy="6858000"/>
          </a:xfrm>
          <a:prstGeom prst="rect">
            <a:avLst/>
          </a:prstGeom>
          <a:solidFill>
            <a:srgbClr val="0F1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41148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46DCE8"/>
                </a:solidFill>
                <a:latin typeface="Aptos"/>
              </a:defRPr>
            </a:pPr>
            <a:r>
              <a:t>10 /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7132320" cy="7315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F5F8FF"/>
                </a:solidFill>
                <a:latin typeface="Aptos"/>
              </a:defRPr>
            </a:pPr>
            <a:r>
              <a:t>From tools to investigation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6629400" cy="10972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B1C0D6"/>
                </a:solidFill>
                <a:latin typeface="Aptos"/>
              </a:defRPr>
            </a:pPr>
            <a:r>
              <a:t>Week 2 gave me practical exposure to network analysis, log investigation, threat mapping, and network monitoring.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429000"/>
            <a:ext cx="960120" cy="54864"/>
          </a:xfrm>
          <a:prstGeom prst="rect">
            <a:avLst/>
          </a:prstGeom>
          <a:solidFill>
            <a:srgbClr val="2A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6537960" cy="11430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5F8FF"/>
                </a:solidFill>
                <a:latin typeface="Aptos"/>
              </a:defRPr>
            </a:pPr>
            <a:r>
              <a:t>My next focus is to practise with controlled traffic, validate custom Snort rules, and repeat the Linux log task in an Ubuntu environment.</a:t>
            </a:r>
          </a:p>
        </p:txBody>
      </p:sp>
      <p:sp>
        <p:nvSpPr>
          <p:cNvPr id="8" name="Oval 7"/>
          <p:cNvSpPr/>
          <p:nvPr/>
        </p:nvSpPr>
        <p:spPr>
          <a:xfrm>
            <a:off x="8641080" y="1234440"/>
            <a:ext cx="914400" cy="914400"/>
          </a:xfrm>
          <a:prstGeom prst="ellipse">
            <a:avLst/>
          </a:prstGeom>
          <a:solidFill>
            <a:srgbClr val="2A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60" y="2240280"/>
            <a:ext cx="640080" cy="640080"/>
          </a:xfrm>
          <a:prstGeom prst="ellipse">
            <a:avLst/>
          </a:prstGeom>
          <a:solidFill>
            <a:srgbClr val="46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698480" y="1143000"/>
            <a:ext cx="438912" cy="438912"/>
          </a:xfrm>
          <a:prstGeom prst="ellipse">
            <a:avLst/>
          </a:prstGeom>
          <a:solidFill>
            <a:srgbClr val="4D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9098280" y="1691640"/>
            <a:ext cx="960120" cy="868680"/>
          </a:xfrm>
          <a:prstGeom prst="line">
            <a:avLst/>
          </a:prstGeom>
          <a:ln w="25400">
            <a:solidFill>
              <a:srgbClr val="3E5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0287000" y="1371600"/>
            <a:ext cx="640080" cy="1097280"/>
          </a:xfrm>
          <a:prstGeom prst="line">
            <a:avLst/>
          </a:prstGeom>
          <a:ln w="25400">
            <a:solidFill>
              <a:srgbClr val="3E5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9098280" y="1371600"/>
            <a:ext cx="1783080" cy="320040"/>
          </a:xfrm>
          <a:prstGeom prst="line">
            <a:avLst/>
          </a:prstGeom>
          <a:ln w="25400">
            <a:solidFill>
              <a:srgbClr val="3E5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321040" y="3886200"/>
            <a:ext cx="3383280" cy="6400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700"/>
              </a:spcAft>
              <a:defRPr sz="2500" b="1">
                <a:solidFill>
                  <a:srgbClr val="F5F8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4617720"/>
            <a:ext cx="338328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>
              <a:spcAft>
                <a:spcPts val="700"/>
              </a:spcAft>
              <a:defRPr sz="1300" b="0">
                <a:solidFill>
                  <a:srgbClr val="B1C0D6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09360"/>
            <a:ext cx="640080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B1C0D6"/>
                </a:solidFill>
                <a:latin typeface="Aptos"/>
              </a:defRPr>
            </a:pPr>
            <a:r>
              <a:t>Gunjan  •  DG Interns Hub  •  Cybersecurity Internship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400800" cy="2286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46DCE8"/>
                </a:solidFill>
                <a:latin typeface="Aptos"/>
              </a:defRPr>
            </a:pPr>
            <a:r>
              <a:t>11 / TASK INDEX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30352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F5F8FF"/>
                </a:solidFill>
                <a:latin typeface="Aptos"/>
              </a:defRPr>
            </a:pPr>
            <a:r>
              <a:t>All six practical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9576"/>
            <a:ext cx="10972800" cy="384048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B1C0D6"/>
                </a:solidFill>
                <a:latin typeface="Aptos"/>
              </a:defRPr>
            </a:pPr>
            <a:r>
              <a:t>A task-by-task view of the Week 2 assignment and evidence recorded.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27632"/>
            <a:ext cx="914400" cy="50292"/>
          </a:xfrm>
          <a:prstGeom prst="rect">
            <a:avLst/>
          </a:prstGeom>
          <a:solidFill>
            <a:srgbClr val="2A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B1C0D6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5257800" cy="1078992"/>
          </a:xfrm>
          <a:prstGeom prst="roundRect">
            <a:avLst/>
          </a:prstGeom>
          <a:solidFill>
            <a:srgbClr val="16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828800"/>
            <a:ext cx="64008" cy="1078992"/>
          </a:xfrm>
          <a:prstGeom prst="rect">
            <a:avLst/>
          </a:prstGeom>
          <a:solidFill>
            <a:srgbClr val="2A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956816"/>
            <a:ext cx="4892040" cy="310896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5F8FF"/>
                </a:solidFill>
                <a:latin typeface="Aptos"/>
              </a:defRPr>
            </a:pPr>
            <a:r>
              <a:t>TASK 1 — Wireshark PCAP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50008"/>
            <a:ext cx="4892040" cy="475487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1C0D6"/>
                </a:solidFill>
                <a:latin typeface="Aptos"/>
              </a:defRPr>
            </a:pPr>
            <a:r>
              <a:t>Source/destination IPs, DNS queries, HTTP requests, screenshots/findings.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28800"/>
            <a:ext cx="5257800" cy="1078992"/>
          </a:xfrm>
          <a:prstGeom prst="roundRect">
            <a:avLst/>
          </a:prstGeom>
          <a:solidFill>
            <a:srgbClr val="16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828800"/>
            <a:ext cx="64008" cy="1078992"/>
          </a:xfrm>
          <a:prstGeom prst="rect">
            <a:avLst/>
          </a:prstGeom>
          <a:solidFill>
            <a:srgbClr val="46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7" y="1956816"/>
            <a:ext cx="4892040" cy="310896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5F8FF"/>
                </a:solidFill>
                <a:latin typeface="Aptos"/>
              </a:defRPr>
            </a:pPr>
            <a:r>
              <a:t>TASK 2 — Capture own VM traffic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2350008"/>
            <a:ext cx="4892040" cy="475487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1C0D6"/>
                </a:solidFill>
                <a:latin typeface="Aptos"/>
              </a:defRPr>
            </a:pPr>
            <a:r>
              <a:t>Browser traffic, DNS lookup, ping, download activity, protocol filters.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136391"/>
            <a:ext cx="5257800" cy="1078992"/>
          </a:xfrm>
          <a:prstGeom prst="roundRect">
            <a:avLst/>
          </a:prstGeom>
          <a:solidFill>
            <a:srgbClr val="16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136391"/>
            <a:ext cx="64008" cy="1078992"/>
          </a:xfrm>
          <a:prstGeom prst="rect">
            <a:avLst/>
          </a:prstGeom>
          <a:solidFill>
            <a:srgbClr val="FFB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3264408"/>
            <a:ext cx="4892040" cy="310896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5F8FF"/>
                </a:solidFill>
                <a:latin typeface="Aptos"/>
              </a:defRPr>
            </a:pPr>
            <a:r>
              <a:t>TASK 3 — Linux log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3657599"/>
            <a:ext cx="4892040" cy="475487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1C0D6"/>
                </a:solidFill>
                <a:latin typeface="Aptos"/>
              </a:defRPr>
            </a:pPr>
            <a:r>
              <a:t>Used journalctl to inspect available system and authentication activity on Kali.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136391"/>
            <a:ext cx="5257800" cy="1078992"/>
          </a:xfrm>
          <a:prstGeom prst="roundRect">
            <a:avLst/>
          </a:prstGeom>
          <a:solidFill>
            <a:srgbClr val="16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3136391"/>
            <a:ext cx="64008" cy="1078992"/>
          </a:xfrm>
          <a:prstGeom prst="rect">
            <a:avLst/>
          </a:prstGeom>
          <a:solidFill>
            <a:srgbClr val="4D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7" y="3264408"/>
            <a:ext cx="4892040" cy="310896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5F8FF"/>
                </a:solidFill>
                <a:latin typeface="Aptos"/>
              </a:defRPr>
            </a:pPr>
            <a:r>
              <a:t>TASK 4 — Apache access log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7" y="3657599"/>
            <a:ext cx="4892040" cy="475487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1C0D6"/>
                </a:solidFill>
                <a:latin typeface="Aptos"/>
              </a:defRPr>
            </a:pPr>
            <a:r>
              <a:t>Downloaded a sample log and ranked the top three source IPs.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443983"/>
            <a:ext cx="5257800" cy="1078992"/>
          </a:xfrm>
          <a:prstGeom prst="roundRect">
            <a:avLst/>
          </a:prstGeom>
          <a:solidFill>
            <a:srgbClr val="16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4443983"/>
            <a:ext cx="64008" cy="1078992"/>
          </a:xfrm>
          <a:prstGeom prst="rect">
            <a:avLst/>
          </a:prstGeom>
          <a:solidFill>
            <a:srgbClr val="2A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571999"/>
            <a:ext cx="4892040" cy="310896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5F8FF"/>
                </a:solidFill>
                <a:latin typeface="Aptos"/>
              </a:defRPr>
            </a:pPr>
            <a:r>
              <a:t>TASK 5 — MITRE ATT&amp;CK mapping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4965192"/>
            <a:ext cx="4892040" cy="475487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1C0D6"/>
                </a:solidFill>
                <a:latin typeface="Aptos"/>
              </a:defRPr>
            </a:pPr>
            <a:r>
              <a:t>Mapped phishing, PowerShell execution, and network service discovery.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4443983"/>
            <a:ext cx="5257800" cy="1078992"/>
          </a:xfrm>
          <a:prstGeom prst="roundRect">
            <a:avLst/>
          </a:prstGeom>
          <a:solidFill>
            <a:srgbClr val="16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4443983"/>
            <a:ext cx="64008" cy="1078992"/>
          </a:xfrm>
          <a:prstGeom prst="rect">
            <a:avLst/>
          </a:prstGeom>
          <a:solidFill>
            <a:srgbClr val="46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4807" y="4571999"/>
            <a:ext cx="4892040" cy="310896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5F8FF"/>
                </a:solidFill>
                <a:latin typeface="Aptos"/>
              </a:defRPr>
            </a:pPr>
            <a:r>
              <a:t>TASK 6 — Snort setup and monitoring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4807" y="4965192"/>
            <a:ext cx="4892040" cy="475487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1C0D6"/>
                </a:solidFill>
                <a:latin typeface="Aptos"/>
              </a:defRPr>
            </a:pPr>
            <a:r>
              <a:t>Installed Snort++, tested configuration, monitored eth0, added local ICMP rule.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400800" cy="2286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46DCE8"/>
                </a:solidFill>
                <a:latin typeface="Aptos"/>
              </a:defRPr>
            </a:pPr>
            <a:r>
              <a:t>12 / TASK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30352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F5F8FF"/>
                </a:solidFill>
                <a:latin typeface="Aptos"/>
              </a:defRPr>
            </a:pPr>
            <a:r>
              <a:t>Wireshark PCAP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9576"/>
            <a:ext cx="10972800" cy="384048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B1C0D6"/>
                </a:solidFill>
                <a:latin typeface="Aptos"/>
              </a:defRPr>
            </a:pPr>
            <a:r>
              <a:t>Goal: inspect a packet capture and document important network conversations.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27632"/>
            <a:ext cx="914400" cy="50292"/>
          </a:xfrm>
          <a:prstGeom prst="rect">
            <a:avLst/>
          </a:prstGeom>
          <a:solidFill>
            <a:srgbClr val="2A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B1C0D6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5212080" cy="1508760"/>
          </a:xfrm>
          <a:prstGeom prst="roundRect">
            <a:avLst/>
          </a:prstGeom>
          <a:solidFill>
            <a:srgbClr val="16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74519"/>
            <a:ext cx="64008" cy="1508760"/>
          </a:xfrm>
          <a:prstGeom prst="rect">
            <a:avLst/>
          </a:prstGeom>
          <a:solidFill>
            <a:srgbClr val="2A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02536"/>
            <a:ext cx="4846320" cy="310896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5F8FF"/>
                </a:solidFill>
                <a:latin typeface="Aptos"/>
              </a:defRPr>
            </a:pPr>
            <a:r>
              <a:t>What I investigated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7"/>
            <a:ext cx="4846320" cy="905255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B1C0D6"/>
                </a:solidFill>
                <a:latin typeface="Aptos"/>
              </a:defRPr>
            </a:pPr>
            <a:r>
              <a:t>Source and destination IP addresses</a:t>
            </a:r>
          </a:p>
          <a:p>
            <a:pPr>
              <a:spcAft>
                <a:spcPts val="500"/>
              </a:spcAft>
              <a:defRPr sz="1300" b="0">
                <a:solidFill>
                  <a:srgbClr val="B1C0D6"/>
                </a:solidFill>
                <a:latin typeface="Aptos"/>
              </a:defRPr>
            </a:pPr>
            <a:r>
              <a:t>DNS queries and responses</a:t>
            </a:r>
          </a:p>
          <a:p>
            <a:pPr>
              <a:spcAft>
                <a:spcPts val="500"/>
              </a:spcAft>
              <a:defRPr sz="1300" b="0">
                <a:solidFill>
                  <a:srgbClr val="B1C0D6"/>
                </a:solidFill>
                <a:latin typeface="Aptos"/>
              </a:defRPr>
            </a:pPr>
            <a:r>
              <a:t>HTTP requests</a:t>
            </a:r>
          </a:p>
          <a:p>
            <a:pPr>
              <a:spcAft>
                <a:spcPts val="500"/>
              </a:spcAft>
              <a:defRPr sz="1300" b="0">
                <a:solidFill>
                  <a:srgbClr val="B1C0D6"/>
                </a:solidFill>
                <a:latin typeface="Aptos"/>
              </a:defRPr>
            </a:pPr>
            <a:r>
              <a:t>Relevant packet details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74519"/>
            <a:ext cx="5212080" cy="1508760"/>
          </a:xfrm>
          <a:prstGeom prst="roundRect">
            <a:avLst/>
          </a:prstGeom>
          <a:solidFill>
            <a:srgbClr val="16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874519"/>
            <a:ext cx="64008" cy="1508760"/>
          </a:xfrm>
          <a:prstGeom prst="rect">
            <a:avLst/>
          </a:prstGeom>
          <a:solidFill>
            <a:srgbClr val="46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2002536"/>
            <a:ext cx="4846320" cy="310896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5F8FF"/>
                </a:solidFill>
                <a:latin typeface="Aptos"/>
              </a:defRPr>
            </a:pPr>
            <a:r>
              <a:t>What I documented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395727"/>
            <a:ext cx="4846320" cy="905255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B1C0D6"/>
                </a:solidFill>
                <a:latin typeface="Aptos"/>
              </a:defRPr>
            </a:pPr>
            <a:r>
              <a:t>Screenshots of packet analysis</a:t>
            </a:r>
          </a:p>
          <a:p>
            <a:pPr>
              <a:spcAft>
                <a:spcPts val="500"/>
              </a:spcAft>
              <a:defRPr sz="1300" b="0">
                <a:solidFill>
                  <a:srgbClr val="B1C0D6"/>
                </a:solidFill>
                <a:latin typeface="Aptos"/>
              </a:defRPr>
            </a:pPr>
            <a:r>
              <a:t>Key observations from the capture</a:t>
            </a:r>
          </a:p>
          <a:p>
            <a:pPr>
              <a:spcAft>
                <a:spcPts val="500"/>
              </a:spcAft>
              <a:defRPr sz="1300" b="0">
                <a:solidFill>
                  <a:srgbClr val="B1C0D6"/>
                </a:solidFill>
                <a:latin typeface="Aptos"/>
              </a:defRPr>
            </a:pPr>
            <a:r>
              <a:t>Protocols and endpoints worth noting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886200"/>
            <a:ext cx="10469880" cy="1143000"/>
          </a:xfrm>
          <a:prstGeom prst="roundRect">
            <a:avLst/>
          </a:prstGeom>
          <a:solidFill>
            <a:srgbClr val="050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" y="3959352"/>
            <a:ext cx="10177272" cy="18288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46DCE8"/>
                </a:solidFill>
                <a:latin typeface="Aptos"/>
              </a:defRPr>
            </a:pPr>
            <a:r>
              <a:t>WIRESHARK DISPLAY FILTERS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" y="4197096"/>
            <a:ext cx="10177272" cy="786384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5F8FF"/>
                </a:solidFill>
                <a:latin typeface="Cascadia Code"/>
              </a:defRPr>
            </a:pPr>
            <a:r>
              <a:t>http</a:t>
            </a:r>
          </a:p>
          <a:p>
            <a:pPr>
              <a:spcAft>
                <a:spcPts val="500"/>
              </a:spcAft>
              <a:defRPr sz="1200" b="0">
                <a:solidFill>
                  <a:srgbClr val="F5F8FF"/>
                </a:solidFill>
                <a:latin typeface="Cascadia Code"/>
              </a:defRPr>
            </a:pPr>
            <a:r>
              <a:t>dns</a:t>
            </a:r>
          </a:p>
          <a:p>
            <a:pPr>
              <a:spcAft>
                <a:spcPts val="500"/>
              </a:spcAft>
              <a:defRPr sz="1200" b="0">
                <a:solidFill>
                  <a:srgbClr val="F5F8FF"/>
                </a:solidFill>
                <a:latin typeface="Cascadia Code"/>
              </a:defRPr>
            </a:pPr>
            <a:r>
              <a:t>tcp.port == 443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349240"/>
            <a:ext cx="10332720" cy="50292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B1C0D6"/>
                </a:solidFill>
                <a:latin typeface="Aptos"/>
              </a:defRPr>
            </a:pPr>
            <a:r>
              <a:t>These are the filters recorded for the Week 2 analysis. No additional command-line PCAP tool was included in the available task notes.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400800" cy="2286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46DCE8"/>
                </a:solidFill>
                <a:latin typeface="Aptos"/>
              </a:defRPr>
            </a:pPr>
            <a:r>
              <a:t>13 / TASK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30352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F5F8FF"/>
                </a:solidFill>
                <a:latin typeface="Aptos"/>
              </a:defRPr>
            </a:pPr>
            <a:r>
              <a:t>Capture and inspect my own VM traffic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9576"/>
            <a:ext cx="10972800" cy="384048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B1C0D6"/>
                </a:solidFill>
                <a:latin typeface="Aptos"/>
              </a:defRPr>
            </a:pPr>
            <a:r>
              <a:t>Generate ordinary network activity, then observe it in Wireshark.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27632"/>
            <a:ext cx="914400" cy="50292"/>
          </a:xfrm>
          <a:prstGeom prst="rect">
            <a:avLst/>
          </a:prstGeom>
          <a:solidFill>
            <a:srgbClr val="2A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B1C0D6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3474720" cy="1554480"/>
          </a:xfrm>
          <a:prstGeom prst="roundRect">
            <a:avLst/>
          </a:prstGeom>
          <a:solidFill>
            <a:srgbClr val="16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74519"/>
            <a:ext cx="64008" cy="1554480"/>
          </a:xfrm>
          <a:prstGeom prst="rect">
            <a:avLst/>
          </a:prstGeom>
          <a:solidFill>
            <a:srgbClr val="2A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02536"/>
            <a:ext cx="3108960" cy="310896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5F8FF"/>
                </a:solidFill>
                <a:latin typeface="Aptos"/>
              </a:defRPr>
            </a:pPr>
            <a:r>
              <a:t>Generate traffic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7"/>
            <a:ext cx="3108960" cy="950976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B1C0D6"/>
                </a:solidFill>
                <a:latin typeface="Aptos"/>
              </a:defRPr>
            </a:pPr>
            <a:r>
              <a:t>Browse websites, perform a DNS lookup, ping a host, and download a file.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74519"/>
            <a:ext cx="3474720" cy="1554480"/>
          </a:xfrm>
          <a:prstGeom prst="roundRect">
            <a:avLst/>
          </a:prstGeom>
          <a:solidFill>
            <a:srgbClr val="16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874519"/>
            <a:ext cx="64008" cy="1554480"/>
          </a:xfrm>
          <a:prstGeom prst="rect">
            <a:avLst/>
          </a:prstGeom>
          <a:solidFill>
            <a:srgbClr val="46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2002536"/>
            <a:ext cx="3108960" cy="310896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5F8FF"/>
                </a:solidFill>
                <a:latin typeface="Aptos"/>
              </a:defRPr>
            </a:pPr>
            <a:r>
              <a:t>Inspect traffic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395727"/>
            <a:ext cx="3108960" cy="950976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B1C0D6"/>
                </a:solidFill>
                <a:latin typeface="Aptos"/>
              </a:defRPr>
            </a:pPr>
            <a:r>
              <a:t>Observe DNS, web traffic, and encrypted TCP/HTTPS connections.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874519"/>
            <a:ext cx="3474720" cy="1554480"/>
          </a:xfrm>
          <a:prstGeom prst="roundRect">
            <a:avLst/>
          </a:prstGeom>
          <a:solidFill>
            <a:srgbClr val="16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874519"/>
            <a:ext cx="64008" cy="1554480"/>
          </a:xfrm>
          <a:prstGeom prst="rect">
            <a:avLst/>
          </a:prstGeom>
          <a:solidFill>
            <a:srgbClr val="4D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2002536"/>
            <a:ext cx="3108960" cy="310896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5F8FF"/>
                </a:solidFill>
                <a:latin typeface="Aptos"/>
              </a:defRPr>
            </a:pPr>
            <a:r>
              <a:t>Record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395727"/>
            <a:ext cx="3108960" cy="950976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B1C0D6"/>
                </a:solidFill>
                <a:latin typeface="Aptos"/>
              </a:defRPr>
            </a:pPr>
            <a:r>
              <a:t>Capture screenshots showing traffic and relevant display filters.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977639"/>
            <a:ext cx="10424160" cy="1143000"/>
          </a:xfrm>
          <a:prstGeom prst="roundRect">
            <a:avLst/>
          </a:prstGeom>
          <a:solidFill>
            <a:srgbClr val="050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4050791"/>
            <a:ext cx="10131552" cy="18288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46DCE8"/>
                </a:solidFill>
                <a:latin typeface="Aptos"/>
              </a:defRPr>
            </a:pPr>
            <a:r>
              <a:t>COMMANDS / FILTERS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" y="4288536"/>
            <a:ext cx="10131552" cy="786384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5F8FF"/>
                </a:solidFill>
                <a:latin typeface="Cascadia Code"/>
              </a:defRPr>
            </a:pPr>
            <a:r>
              <a:t>nslookup &lt;domain&gt;</a:t>
            </a:r>
          </a:p>
          <a:p>
            <a:pPr>
              <a:spcAft>
                <a:spcPts val="500"/>
              </a:spcAft>
              <a:defRPr sz="1200" b="0">
                <a:solidFill>
                  <a:srgbClr val="F5F8FF"/>
                </a:solidFill>
                <a:latin typeface="Cascadia Code"/>
              </a:defRPr>
            </a:pPr>
            <a:r>
              <a:t>ping &lt;host&gt;</a:t>
            </a:r>
          </a:p>
          <a:p>
            <a:pPr>
              <a:spcAft>
                <a:spcPts val="500"/>
              </a:spcAft>
              <a:defRPr sz="1200" b="0">
                <a:solidFill>
                  <a:srgbClr val="F5F8FF"/>
                </a:solidFill>
                <a:latin typeface="Cascadia Code"/>
              </a:defRPr>
            </a:pPr>
            <a:r>
              <a:t>http</a:t>
            </a:r>
          </a:p>
          <a:p>
            <a:pPr>
              <a:spcAft>
                <a:spcPts val="500"/>
              </a:spcAft>
              <a:defRPr sz="1200" b="0">
                <a:solidFill>
                  <a:srgbClr val="F5F8FF"/>
                </a:solidFill>
                <a:latin typeface="Cascadia Code"/>
              </a:defRPr>
            </a:pPr>
            <a:r>
              <a:t>dns</a:t>
            </a:r>
          </a:p>
          <a:p>
            <a:pPr>
              <a:spcAft>
                <a:spcPts val="500"/>
              </a:spcAft>
              <a:defRPr sz="1200" b="0">
                <a:solidFill>
                  <a:srgbClr val="F5F8FF"/>
                </a:solidFill>
                <a:latin typeface="Cascadia Code"/>
              </a:defRPr>
            </a:pPr>
            <a:r>
              <a:t>tcp.port == 443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440680"/>
            <a:ext cx="10332720" cy="4572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FFBF5A"/>
                </a:solidFill>
                <a:latin typeface="Aptos"/>
              </a:defRPr>
            </a:pPr>
            <a:r>
              <a:t>Use the domain and host you actually tested. Exact lookup and ping targets were not preserved in my notes, so placeholders are shown rather than invented commands.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400800" cy="2286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46DCE8"/>
                </a:solidFill>
                <a:latin typeface="Aptos"/>
              </a:defRPr>
            </a:pPr>
            <a:r>
              <a:t>14 / TASK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30352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F5F8FF"/>
                </a:solidFill>
                <a:latin typeface="Aptos"/>
              </a:defRPr>
            </a:pPr>
            <a:r>
              <a:t>Linux logs: authentication and system 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9576"/>
            <a:ext cx="10972800" cy="384048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B1C0D6"/>
                </a:solidFill>
                <a:latin typeface="Aptos"/>
              </a:defRPr>
            </a:pPr>
            <a:r>
              <a:t>The assignment mentioned Ubuntu log files; I performed the available checks on Kali Linux.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27632"/>
            <a:ext cx="914400" cy="50292"/>
          </a:xfrm>
          <a:prstGeom prst="rect">
            <a:avLst/>
          </a:prstGeom>
          <a:solidFill>
            <a:srgbClr val="2A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B1C0D6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5166360" cy="1143000"/>
          </a:xfrm>
          <a:prstGeom prst="roundRect">
            <a:avLst/>
          </a:prstGeom>
          <a:solidFill>
            <a:srgbClr val="050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947672"/>
            <a:ext cx="4873752" cy="18288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46DCE8"/>
                </a:solidFill>
                <a:latin typeface="Aptos"/>
              </a:defRPr>
            </a:pPr>
            <a:r>
              <a:t>COMMAND USED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2185415"/>
            <a:ext cx="4873752" cy="786384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5F8FF"/>
                </a:solidFill>
                <a:latin typeface="Cascadia Code"/>
              </a:defRPr>
            </a:pPr>
            <a:r>
              <a:t>journalctl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74519"/>
            <a:ext cx="5166360" cy="1143000"/>
          </a:xfrm>
          <a:prstGeom prst="roundRect">
            <a:avLst/>
          </a:prstGeom>
          <a:solidFill>
            <a:srgbClr val="050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4224" y="1947672"/>
            <a:ext cx="4873752" cy="18288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46DCE8"/>
                </a:solidFill>
                <a:latin typeface="Aptos"/>
              </a:defRPr>
            </a:pPr>
            <a:r>
              <a:t>IDENTITY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2185415"/>
            <a:ext cx="4873752" cy="786384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5F8FF"/>
                </a:solidFill>
                <a:latin typeface="Cascadia Code"/>
              </a:defRPr>
            </a:pPr>
            <a:r>
              <a:t>whoami</a:t>
            </a:r>
          </a:p>
          <a:p>
            <a:pPr>
              <a:spcAft>
                <a:spcPts val="500"/>
              </a:spcAft>
              <a:defRPr sz="1200" b="0">
                <a:solidFill>
                  <a:srgbClr val="F5F8FF"/>
                </a:solidFill>
                <a:latin typeface="Cascadia Code"/>
              </a:defRPr>
            </a:pPr>
            <a:r>
              <a:t># output: gunjan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474720"/>
            <a:ext cx="3383280" cy="1417320"/>
          </a:xfrm>
          <a:prstGeom prst="roundRect">
            <a:avLst/>
          </a:prstGeom>
          <a:solidFill>
            <a:srgbClr val="16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474720"/>
            <a:ext cx="64008" cy="1417320"/>
          </a:xfrm>
          <a:prstGeom prst="rect">
            <a:avLst/>
          </a:prstGeom>
          <a:solidFill>
            <a:srgbClr val="4D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3602736"/>
            <a:ext cx="3017520" cy="310896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5F8FF"/>
                </a:solidFill>
                <a:latin typeface="Aptos"/>
              </a:defRPr>
            </a:pPr>
            <a:r>
              <a:t>Sudo activity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3995928"/>
            <a:ext cx="3017520" cy="813816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B1C0D6"/>
                </a:solidFill>
                <a:latin typeface="Aptos"/>
              </a:defRPr>
            </a:pPr>
            <a:r>
              <a:t>Screenshot: task3_sudo_activity.png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474720"/>
            <a:ext cx="3383280" cy="1417320"/>
          </a:xfrm>
          <a:prstGeom prst="roundRect">
            <a:avLst/>
          </a:prstGeom>
          <a:solidFill>
            <a:srgbClr val="16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0" y="3474720"/>
            <a:ext cx="64008" cy="1417320"/>
          </a:xfrm>
          <a:prstGeom prst="rect">
            <a:avLst/>
          </a:prstGeom>
          <a:solidFill>
            <a:srgbClr val="FFB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0288" y="3602736"/>
            <a:ext cx="3017520" cy="310896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5F8FF"/>
                </a:solidFill>
                <a:latin typeface="Aptos"/>
              </a:defRPr>
            </a:pPr>
            <a:r>
              <a:t>Authentication failure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3995928"/>
            <a:ext cx="3017520" cy="813816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B1C0D6"/>
                </a:solidFill>
                <a:latin typeface="Aptos"/>
              </a:defRPr>
            </a:pPr>
            <a:r>
              <a:t>Screenshot: task3_authentication_failure.png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1000" y="3474720"/>
            <a:ext cx="3383280" cy="1417320"/>
          </a:xfrm>
          <a:prstGeom prst="roundRect">
            <a:avLst/>
          </a:prstGeom>
          <a:solidFill>
            <a:srgbClr val="16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01000" y="3474720"/>
            <a:ext cx="64008" cy="1417320"/>
          </a:xfrm>
          <a:prstGeom prst="rect">
            <a:avLst/>
          </a:prstGeom>
          <a:solidFill>
            <a:srgbClr val="2A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02168" y="3602736"/>
            <a:ext cx="3017520" cy="310896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5F8FF"/>
                </a:solidFill>
                <a:latin typeface="Aptos"/>
              </a:defRPr>
            </a:pPr>
            <a:r>
              <a:t>System errors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02168" y="3995928"/>
            <a:ext cx="3017520" cy="813816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B1C0D6"/>
                </a:solidFill>
                <a:latin typeface="Aptos"/>
              </a:defRPr>
            </a:pPr>
            <a:r>
              <a:t>Screenshot: task3_system_errors.png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349240"/>
            <a:ext cx="10332720" cy="59436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B1C0D6"/>
                </a:solidFill>
                <a:latin typeface="Aptos"/>
              </a:defRPr>
            </a:pPr>
            <a:r>
              <a:t>Limitation: /var/log/auth.log and /var/log/syslog were absent in this Kali setup. journalctl was used as an alternative, not as an exact Ubuntu task completion.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400800" cy="2286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46DCE8"/>
                </a:solidFill>
                <a:latin typeface="Aptos"/>
              </a:defRPr>
            </a:pPr>
            <a:r>
              <a:t>15 / TASK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30352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F5F8FF"/>
                </a:solidFill>
                <a:latin typeface="Aptos"/>
              </a:defRPr>
            </a:pPr>
            <a:r>
              <a:t>Apache access log: exact commands and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9576"/>
            <a:ext cx="10972800" cy="384048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B1C0D6"/>
                </a:solidFill>
                <a:latin typeface="Aptos"/>
              </a:defRPr>
            </a:pPr>
            <a:r>
              <a:t>I downloaded a sample Apache log, checked its contents, and counted frequent source IPs.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27632"/>
            <a:ext cx="914400" cy="50292"/>
          </a:xfrm>
          <a:prstGeom prst="rect">
            <a:avLst/>
          </a:prstGeom>
          <a:solidFill>
            <a:srgbClr val="2A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B1C0D6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10698480" cy="1097280"/>
          </a:xfrm>
          <a:prstGeom prst="roundRect">
            <a:avLst/>
          </a:prstGeom>
          <a:solidFill>
            <a:srgbClr val="050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901952"/>
            <a:ext cx="10405872" cy="18288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46DCE8"/>
                </a:solidFill>
                <a:latin typeface="Aptos"/>
              </a:defRPr>
            </a:pPr>
            <a:r>
              <a:t>DOWNLOAD SAMPLE LOG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139696"/>
            <a:ext cx="10405872" cy="740664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5F8FF"/>
                </a:solidFill>
                <a:latin typeface="Cascadia Code"/>
              </a:defRPr>
            </a:pPr>
            <a:r>
              <a:t>wget -O access.log https://raw.githubusercontent.com/elastic/examples/master/Common%20Data%20Formats/apache_logs/apache_logs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54680"/>
            <a:ext cx="10698480" cy="731520"/>
          </a:xfrm>
          <a:prstGeom prst="roundRect">
            <a:avLst/>
          </a:prstGeom>
          <a:solidFill>
            <a:srgbClr val="050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3227832"/>
            <a:ext cx="10405872" cy="18288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46DCE8"/>
                </a:solidFill>
                <a:latin typeface="Aptos"/>
              </a:defRPr>
            </a:pPr>
            <a:r>
              <a:t>CHECK FIRST FIVE LINES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465576"/>
            <a:ext cx="10405872" cy="374904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5F8FF"/>
                </a:solidFill>
                <a:latin typeface="Cascadia Code"/>
              </a:defRPr>
            </a:pPr>
            <a:r>
              <a:t>head -5 access.log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10698480" cy="914400"/>
          </a:xfrm>
          <a:prstGeom prst="roundRect">
            <a:avLst/>
          </a:prstGeom>
          <a:solidFill>
            <a:srgbClr val="050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4187952"/>
            <a:ext cx="10405872" cy="18288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46DCE8"/>
                </a:solidFill>
                <a:latin typeface="Aptos"/>
              </a:defRPr>
            </a:pPr>
            <a:r>
              <a:t>TOP 3 SOURCE IPs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425696"/>
            <a:ext cx="10405872" cy="557784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5F8FF"/>
                </a:solidFill>
                <a:latin typeface="Cascadia Code"/>
              </a:defRPr>
            </a:pPr>
            <a:r>
              <a:t>awk '{print $1}' access.log | sort | uniq -c | sort -nr | head -3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349240"/>
            <a:ext cx="10332720" cy="77724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46DCE8"/>
                </a:solidFill>
                <a:latin typeface="Aptos"/>
              </a:defRPr>
            </a:pPr>
            <a:r>
              <a:t>482  66.249.73.135</a:t>
            </a:r>
          </a:p>
          <a:p>
            <a:pPr>
              <a:spcAft>
                <a:spcPts val="500"/>
              </a:spcAft>
              <a:defRPr sz="1300" b="1">
                <a:solidFill>
                  <a:srgbClr val="46DCE8"/>
                </a:solidFill>
                <a:latin typeface="Aptos"/>
              </a:defRPr>
            </a:pPr>
            <a:r>
              <a:t>364  46.105.14.53</a:t>
            </a:r>
          </a:p>
          <a:p>
            <a:pPr>
              <a:spcAft>
                <a:spcPts val="500"/>
              </a:spcAft>
              <a:defRPr sz="1300" b="1">
                <a:solidFill>
                  <a:srgbClr val="46DCE8"/>
                </a:solidFill>
                <a:latin typeface="Aptos"/>
              </a:defRPr>
            </a:pPr>
            <a:r>
              <a:t>357  130.237.218.86</a:t>
            </a:r>
          </a:p>
          <a:p>
            <a:pPr>
              <a:spcAft>
                <a:spcPts val="500"/>
              </a:spcAft>
              <a:defRPr sz="1300" b="1">
                <a:solidFill>
                  <a:srgbClr val="46DCE8"/>
                </a:solidFill>
                <a:latin typeface="Aptos"/>
              </a:defRPr>
            </a:pPr>
            <a:r>
              <a:t>Source: Elastic examples Apache log sample.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400800" cy="2286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46DCE8"/>
                </a:solidFill>
                <a:latin typeface="Aptos"/>
              </a:defRPr>
            </a:pPr>
            <a:r>
              <a:t>16 / TASK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30352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F5F8FF"/>
                </a:solidFill>
                <a:latin typeface="Aptos"/>
              </a:defRPr>
            </a:pPr>
            <a:r>
              <a:t>MITRE ATT&amp;CK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9576"/>
            <a:ext cx="10972800" cy="384048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B1C0D6"/>
                </a:solidFill>
                <a:latin typeface="Aptos"/>
              </a:defRPr>
            </a:pPr>
            <a:r>
              <a:t>I connected three example behaviours to the relevant ATT&amp;CK technique pages.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27632"/>
            <a:ext cx="914400" cy="50292"/>
          </a:xfrm>
          <a:prstGeom prst="rect">
            <a:avLst/>
          </a:prstGeom>
          <a:solidFill>
            <a:srgbClr val="2A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B1C0D6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3520440" cy="1874519"/>
          </a:xfrm>
          <a:prstGeom prst="roundRect">
            <a:avLst/>
          </a:prstGeom>
          <a:solidFill>
            <a:srgbClr val="16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74519"/>
            <a:ext cx="64008" cy="1874519"/>
          </a:xfrm>
          <a:prstGeom prst="rect">
            <a:avLst/>
          </a:prstGeom>
          <a:solidFill>
            <a:srgbClr val="2A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02536"/>
            <a:ext cx="3154680" cy="310896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5F8FF"/>
                </a:solidFill>
                <a:latin typeface="Aptos"/>
              </a:defRPr>
            </a:pPr>
            <a:r>
              <a:t>PHISHING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7"/>
            <a:ext cx="3154680" cy="1271015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1C0D6"/>
                </a:solidFill>
                <a:latin typeface="Aptos"/>
              </a:defRPr>
            </a:pPr>
            <a:r>
              <a:t>T1566.002 — Spearphishing Link</a:t>
            </a:r>
          </a:p>
          <a:p>
            <a:pPr>
              <a:spcAft>
                <a:spcPts val="500"/>
              </a:spcAft>
              <a:defRPr sz="1100" b="0">
                <a:solidFill>
                  <a:srgbClr val="B1C0D6"/>
                </a:solidFill>
                <a:latin typeface="Aptos"/>
              </a:defRPr>
            </a:pPr>
            <a:r>
              <a:t>Tactic: Initial Access</a:t>
            </a:r>
          </a:p>
          <a:p>
            <a:pPr>
              <a:spcAft>
                <a:spcPts val="500"/>
              </a:spcAft>
              <a:defRPr sz="1100" b="0">
                <a:solidFill>
                  <a:srgbClr val="B1C0D6"/>
                </a:solidFill>
                <a:latin typeface="Aptos"/>
              </a:defRPr>
            </a:pPr>
            <a:r>
              <a:t>attack.mitre.org/techniques/T1566/002/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874519"/>
            <a:ext cx="3520440" cy="1874519"/>
          </a:xfrm>
          <a:prstGeom prst="roundRect">
            <a:avLst/>
          </a:prstGeom>
          <a:solidFill>
            <a:srgbClr val="16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874519"/>
            <a:ext cx="64008" cy="1874519"/>
          </a:xfrm>
          <a:prstGeom prst="rect">
            <a:avLst/>
          </a:prstGeom>
          <a:solidFill>
            <a:srgbClr val="46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2002536"/>
            <a:ext cx="3154680" cy="310896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5F8FF"/>
                </a:solidFill>
                <a:latin typeface="Aptos"/>
              </a:defRPr>
            </a:pPr>
            <a:r>
              <a:t>POWERSHELL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395727"/>
            <a:ext cx="3154680" cy="1271015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1C0D6"/>
                </a:solidFill>
                <a:latin typeface="Aptos"/>
              </a:defRPr>
            </a:pPr>
            <a:r>
              <a:t>T1059.001 — PowerShell</a:t>
            </a:r>
          </a:p>
          <a:p>
            <a:pPr>
              <a:spcAft>
                <a:spcPts val="500"/>
              </a:spcAft>
              <a:defRPr sz="1100" b="0">
                <a:solidFill>
                  <a:srgbClr val="B1C0D6"/>
                </a:solidFill>
                <a:latin typeface="Aptos"/>
              </a:defRPr>
            </a:pPr>
            <a:r>
              <a:t>Tactic: Execution</a:t>
            </a:r>
          </a:p>
          <a:p>
            <a:pPr>
              <a:spcAft>
                <a:spcPts val="500"/>
              </a:spcAft>
              <a:defRPr sz="1100" b="0">
                <a:solidFill>
                  <a:srgbClr val="B1C0D6"/>
                </a:solidFill>
                <a:latin typeface="Aptos"/>
              </a:defRPr>
            </a:pPr>
            <a:r>
              <a:t>attack.mitre.org/techniques/T1059/001/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1874519"/>
            <a:ext cx="3520440" cy="1874519"/>
          </a:xfrm>
          <a:prstGeom prst="roundRect">
            <a:avLst/>
          </a:prstGeom>
          <a:solidFill>
            <a:srgbClr val="16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79" y="1874519"/>
            <a:ext cx="64008" cy="1874519"/>
          </a:xfrm>
          <a:prstGeom prst="rect">
            <a:avLst/>
          </a:prstGeom>
          <a:solidFill>
            <a:srgbClr val="4D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56448" y="2002536"/>
            <a:ext cx="3154680" cy="310896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5F8FF"/>
                </a:solidFill>
                <a:latin typeface="Aptos"/>
              </a:defRPr>
            </a:pPr>
            <a:r>
              <a:t>SERVICE DISCOVERY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8" y="2395727"/>
            <a:ext cx="3154680" cy="1271015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B1C0D6"/>
                </a:solidFill>
                <a:latin typeface="Aptos"/>
              </a:defRPr>
            </a:pPr>
            <a:r>
              <a:t>T1046 — Network Service Discovery</a:t>
            </a:r>
          </a:p>
          <a:p>
            <a:pPr>
              <a:spcAft>
                <a:spcPts val="500"/>
              </a:spcAft>
              <a:defRPr sz="1100" b="0">
                <a:solidFill>
                  <a:srgbClr val="B1C0D6"/>
                </a:solidFill>
                <a:latin typeface="Aptos"/>
              </a:defRPr>
            </a:pPr>
            <a:r>
              <a:t>Tactic: Discovery</a:t>
            </a:r>
          </a:p>
          <a:p>
            <a:pPr>
              <a:spcAft>
                <a:spcPts val="500"/>
              </a:spcAft>
              <a:defRPr sz="1100" b="0">
                <a:solidFill>
                  <a:srgbClr val="B1C0D6"/>
                </a:solidFill>
                <a:latin typeface="Aptos"/>
              </a:defRPr>
            </a:pPr>
            <a:r>
              <a:t>attack.mitre.org/techniques/T1046/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251960"/>
            <a:ext cx="10424160" cy="822960"/>
          </a:xfrm>
          <a:prstGeom prst="roundRect">
            <a:avLst/>
          </a:prstGeom>
          <a:solidFill>
            <a:srgbClr val="050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4325112"/>
            <a:ext cx="10131552" cy="18288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46DCE8"/>
                </a:solidFill>
                <a:latin typeface="Aptos"/>
              </a:defRPr>
            </a:pPr>
            <a:r>
              <a:t>TASK TYPE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" y="4562856"/>
            <a:ext cx="10131552" cy="466344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5F8FF"/>
                </a:solidFill>
                <a:latin typeface="Cascadia Code"/>
              </a:defRPr>
            </a:pPr>
            <a:r>
              <a:t>Research and technique mapping; no terminal command required.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394960"/>
            <a:ext cx="10332720" cy="50292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B1C0D6"/>
                </a:solidFill>
                <a:latin typeface="Aptos"/>
              </a:defRPr>
            </a:pPr>
            <a:r>
              <a:t>A port scan may map to different techniques depending on context. T1046 is the mapping documented for this task.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400800" cy="2286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46DCE8"/>
                </a:solidFill>
                <a:latin typeface="Aptos"/>
              </a:defRPr>
            </a:pPr>
            <a:r>
              <a:t>17 / TASK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30352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F5F8FF"/>
                </a:solidFill>
                <a:latin typeface="Aptos"/>
              </a:defRPr>
            </a:pPr>
            <a:r>
              <a:t>Snort setup: commands I 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9576"/>
            <a:ext cx="10972800" cy="384048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B1C0D6"/>
                </a:solidFill>
                <a:latin typeface="Aptos"/>
              </a:defRPr>
            </a:pPr>
            <a:r>
              <a:t>Snort++ was installed and tested in Kali Linux.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27632"/>
            <a:ext cx="914400" cy="50292"/>
          </a:xfrm>
          <a:prstGeom prst="rect">
            <a:avLst/>
          </a:prstGeom>
          <a:solidFill>
            <a:srgbClr val="2A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B1C0D6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257800" cy="777240"/>
          </a:xfrm>
          <a:prstGeom prst="roundRect">
            <a:avLst/>
          </a:prstGeom>
          <a:solidFill>
            <a:srgbClr val="050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901952"/>
            <a:ext cx="4965192" cy="18288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46DCE8"/>
                </a:solidFill>
                <a:latin typeface="Aptos"/>
              </a:defRPr>
            </a:pPr>
            <a:r>
              <a:t>CHECK VERSION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139696"/>
            <a:ext cx="4965192" cy="420623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5F8FF"/>
                </a:solidFill>
                <a:latin typeface="Cascadia Code"/>
              </a:defRPr>
            </a:pPr>
            <a:r>
              <a:t>snort -v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257800" cy="777240"/>
          </a:xfrm>
          <a:prstGeom prst="roundRect">
            <a:avLst/>
          </a:prstGeom>
          <a:solidFill>
            <a:srgbClr val="050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4224" y="1901952"/>
            <a:ext cx="4965192" cy="18288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46DCE8"/>
                </a:solidFill>
                <a:latin typeface="Aptos"/>
              </a:defRPr>
            </a:pPr>
            <a:r>
              <a:t>CHECK INTERFACES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2139696"/>
            <a:ext cx="4965192" cy="420623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5F8FF"/>
                </a:solidFill>
                <a:latin typeface="Cascadia Code"/>
              </a:defRPr>
            </a:pPr>
            <a:r>
              <a:t>ip -br link</a:t>
            </a:r>
          </a:p>
          <a:p>
            <a:pPr>
              <a:spcAft>
                <a:spcPts val="500"/>
              </a:spcAft>
              <a:defRPr sz="1200" b="0">
                <a:solidFill>
                  <a:srgbClr val="F5F8FF"/>
                </a:solidFill>
                <a:latin typeface="Cascadia Code"/>
              </a:defRPr>
            </a:pPr>
            <a:r>
              <a:t>ip -br addr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834640"/>
            <a:ext cx="10744200" cy="822960"/>
          </a:xfrm>
          <a:prstGeom prst="roundRect">
            <a:avLst/>
          </a:prstGeom>
          <a:solidFill>
            <a:srgbClr val="050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2907792"/>
            <a:ext cx="10451592" cy="18288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46DCE8"/>
                </a:solidFill>
                <a:latin typeface="Aptos"/>
              </a:defRPr>
            </a:pPr>
            <a:r>
              <a:t>BACK UP CONFIGURATION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145536"/>
            <a:ext cx="10451592" cy="466344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5F8FF"/>
                </a:solidFill>
                <a:latin typeface="Cascadia Code"/>
              </a:defRPr>
            </a:pPr>
            <a:r>
              <a:t>sudo cp /etc/snort/snort.lua /etc/snort/snort.lua.bak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886200"/>
            <a:ext cx="10744200" cy="822960"/>
          </a:xfrm>
          <a:prstGeom prst="roundRect">
            <a:avLst/>
          </a:prstGeom>
          <a:solidFill>
            <a:srgbClr val="050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3959352"/>
            <a:ext cx="10451592" cy="18288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46DCE8"/>
                </a:solidFill>
                <a:latin typeface="Aptos"/>
              </a:defRPr>
            </a:pPr>
            <a:r>
              <a:t>VALIDATE CONFIGURATION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4197096"/>
            <a:ext cx="10451592" cy="466344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5F8FF"/>
                </a:solidFill>
                <a:latin typeface="Cascadia Code"/>
              </a:defRPr>
            </a:pPr>
            <a:r>
              <a:t>snort -c /etc/snort/snort.lua -T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937760"/>
            <a:ext cx="10744200" cy="822960"/>
          </a:xfrm>
          <a:prstGeom prst="roundRect">
            <a:avLst/>
          </a:prstGeom>
          <a:solidFill>
            <a:srgbClr val="050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5010912"/>
            <a:ext cx="10451592" cy="18288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46DCE8"/>
                </a:solidFill>
                <a:latin typeface="Aptos"/>
              </a:defRPr>
            </a:pPr>
            <a:r>
              <a:t>MONITOR TRAFFIC ON eth0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5248656"/>
            <a:ext cx="10451592" cy="466344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5F8FF"/>
                </a:solidFill>
                <a:latin typeface="Cascadia Code"/>
              </a:defRPr>
            </a:pPr>
            <a:r>
              <a:t>sudo snort -c /etc/snort/snort.lua -i eth0 -v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400800" cy="2286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46DCE8"/>
                </a:solidFill>
                <a:latin typeface="Aptos"/>
              </a:defRPr>
            </a:pPr>
            <a:r>
              <a:t>18 / TASK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30352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F5F8FF"/>
                </a:solidFill>
                <a:latin typeface="Aptos"/>
              </a:defRPr>
            </a:pPr>
            <a:r>
              <a:t>Snort local ICMP rule and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9576"/>
            <a:ext cx="10972800" cy="384048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B1C0D6"/>
                </a:solidFill>
                <a:latin typeface="Aptos"/>
              </a:defRPr>
            </a:pPr>
            <a:r>
              <a:t>The rule was added, but successful loading and alert generation were not confirmed.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27632"/>
            <a:ext cx="914400" cy="50292"/>
          </a:xfrm>
          <a:prstGeom prst="rect">
            <a:avLst/>
          </a:prstGeom>
          <a:solidFill>
            <a:srgbClr val="2A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B1C0D6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10744200" cy="960120"/>
          </a:xfrm>
          <a:prstGeom prst="roundRect">
            <a:avLst/>
          </a:prstGeom>
          <a:solidFill>
            <a:srgbClr val="050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901952"/>
            <a:ext cx="10451592" cy="18288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46DCE8"/>
                </a:solidFill>
                <a:latin typeface="Aptos"/>
              </a:defRPr>
            </a:pPr>
            <a:r>
              <a:t>CONTENT OF /etc/snort/rules/local.rules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139696"/>
            <a:ext cx="10451592" cy="603504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5F8FF"/>
                </a:solidFill>
                <a:latin typeface="Cascadia Code"/>
              </a:defRPr>
            </a:pPr>
            <a:r>
              <a:t>alert icmp any any -&gt; any any (msg:"ICMP Ping Detected"; sid:1000001; rev:1;)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46120"/>
            <a:ext cx="5257800" cy="1417320"/>
          </a:xfrm>
          <a:prstGeom prst="roundRect">
            <a:avLst/>
          </a:prstGeom>
          <a:solidFill>
            <a:srgbClr val="16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246120"/>
            <a:ext cx="64008" cy="1417320"/>
          </a:xfrm>
          <a:prstGeom prst="rect">
            <a:avLst/>
          </a:prstGeom>
          <a:solidFill>
            <a:srgbClr val="4D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374136"/>
            <a:ext cx="4892040" cy="310896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5F8FF"/>
                </a:solidFill>
                <a:latin typeface="Aptos"/>
              </a:defRPr>
            </a:pPr>
            <a:r>
              <a:t>Confirmed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767328"/>
            <a:ext cx="4892040" cy="813816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B1C0D6"/>
                </a:solidFill>
                <a:latin typeface="Aptos"/>
              </a:defRPr>
            </a:pPr>
            <a:r>
              <a:t>local.rules was edited</a:t>
            </a:r>
          </a:p>
          <a:p>
            <a:pPr>
              <a:spcAft>
                <a:spcPts val="500"/>
              </a:spcAft>
              <a:defRPr sz="1200" b="0">
                <a:solidFill>
                  <a:srgbClr val="B1C0D6"/>
                </a:solidFill>
                <a:latin typeface="Aptos"/>
              </a:defRPr>
            </a:pPr>
            <a:r>
              <a:t>Main config test passed</a:t>
            </a:r>
          </a:p>
          <a:p>
            <a:pPr>
              <a:spcAft>
                <a:spcPts val="500"/>
              </a:spcAft>
              <a:defRPr sz="1200" b="0">
                <a:solidFill>
                  <a:srgbClr val="B1C0D6"/>
                </a:solidFill>
                <a:latin typeface="Aptos"/>
              </a:defRPr>
            </a:pPr>
            <a:r>
              <a:t>Packet capture ran on eth0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246120"/>
            <a:ext cx="5257800" cy="1417320"/>
          </a:xfrm>
          <a:prstGeom prst="roundRect">
            <a:avLst/>
          </a:prstGeom>
          <a:solidFill>
            <a:srgbClr val="162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3246120"/>
            <a:ext cx="64008" cy="1417320"/>
          </a:xfrm>
          <a:prstGeom prst="rect">
            <a:avLst/>
          </a:prstGeom>
          <a:solidFill>
            <a:srgbClr val="FFB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3374136"/>
            <a:ext cx="4892040" cy="310896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5F8FF"/>
                </a:solidFill>
                <a:latin typeface="Aptos"/>
              </a:defRPr>
            </a:pPr>
            <a:r>
              <a:t>Still unverified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3767328"/>
            <a:ext cx="4892040" cy="813816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B1C0D6"/>
                </a:solidFill>
                <a:latin typeface="Aptos"/>
              </a:defRPr>
            </a:pPr>
            <a:r>
              <a:t>Config test showed 219 rules loaded</a:t>
            </a:r>
          </a:p>
          <a:p>
            <a:pPr>
              <a:spcAft>
                <a:spcPts val="500"/>
              </a:spcAft>
              <a:defRPr sz="1200" b="0">
                <a:solidFill>
                  <a:srgbClr val="B1C0D6"/>
                </a:solidFill>
                <a:latin typeface="Aptos"/>
              </a:defRPr>
            </a:pPr>
            <a:r>
              <a:t>Custom rule loading not confirmed</a:t>
            </a:r>
          </a:p>
          <a:p>
            <a:pPr>
              <a:spcAft>
                <a:spcPts val="500"/>
              </a:spcAft>
              <a:defRPr sz="1200" b="0">
                <a:solidFill>
                  <a:srgbClr val="B1C0D6"/>
                </a:solidFill>
                <a:latin typeface="Aptos"/>
              </a:defRPr>
            </a:pPr>
            <a:r>
              <a:t>No verified custom alert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166360"/>
            <a:ext cx="10332720" cy="59436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B1C0D6"/>
                </a:solidFill>
                <a:latin typeface="Aptos"/>
              </a:defRPr>
            </a:pPr>
            <a:r>
              <a:t>Do not report that the ICMP alert worked. Next: correct the include configuration, rerun validation, and test with controlled ping traffic.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6400800" cy="2286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46DCE8"/>
                </a:solidFill>
                <a:latin typeface="Aptos"/>
              </a:defRPr>
            </a:pPr>
            <a:r>
              <a:t>19 / COMMAND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30352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F5F8FF"/>
                </a:solidFill>
                <a:latin typeface="Aptos"/>
              </a:defRPr>
            </a:pPr>
            <a:r>
              <a:t>Quick command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9576"/>
            <a:ext cx="10972800" cy="384048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B1C0D6"/>
                </a:solidFill>
                <a:latin typeface="Aptos"/>
              </a:defRPr>
            </a:pPr>
            <a:r>
              <a:t>Commands and filters used or documented during Week 2.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27632"/>
            <a:ext cx="914400" cy="50292"/>
          </a:xfrm>
          <a:prstGeom prst="rect">
            <a:avLst/>
          </a:prstGeom>
          <a:solidFill>
            <a:srgbClr val="2A8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B1C0D6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5303520" cy="1097280"/>
          </a:xfrm>
          <a:prstGeom prst="roundRect">
            <a:avLst/>
          </a:prstGeom>
          <a:solidFill>
            <a:srgbClr val="050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856231"/>
            <a:ext cx="5010912" cy="18288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46DCE8"/>
                </a:solidFill>
                <a:latin typeface="Aptos"/>
              </a:defRPr>
            </a:pPr>
            <a:r>
              <a:t>LINUX / LOGS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093976"/>
            <a:ext cx="5010912" cy="740664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5F8FF"/>
                </a:solidFill>
                <a:latin typeface="Cascadia Code"/>
              </a:defRPr>
            </a:pPr>
            <a:r>
              <a:t>whoami</a:t>
            </a:r>
          </a:p>
          <a:p>
            <a:pPr>
              <a:spcAft>
                <a:spcPts val="500"/>
              </a:spcAft>
              <a:defRPr sz="1200" b="0">
                <a:solidFill>
                  <a:srgbClr val="F5F8FF"/>
                </a:solidFill>
                <a:latin typeface="Cascadia Code"/>
              </a:defRPr>
            </a:pPr>
            <a:r>
              <a:t>journalctl</a:t>
            </a:r>
          </a:p>
          <a:p>
            <a:pPr>
              <a:spcAft>
                <a:spcPts val="500"/>
              </a:spcAft>
              <a:defRPr sz="1200" b="0">
                <a:solidFill>
                  <a:srgbClr val="F5F8FF"/>
                </a:solidFill>
                <a:latin typeface="Cascadia Code"/>
              </a:defRPr>
            </a:pPr>
            <a:r>
              <a:t>head -5 access.log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83080"/>
            <a:ext cx="5303520" cy="1097280"/>
          </a:xfrm>
          <a:prstGeom prst="roundRect">
            <a:avLst/>
          </a:prstGeom>
          <a:solidFill>
            <a:srgbClr val="050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4224" y="1856231"/>
            <a:ext cx="5010912" cy="18288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46DCE8"/>
                </a:solidFill>
                <a:latin typeface="Aptos"/>
              </a:defRPr>
            </a:pPr>
            <a:r>
              <a:t>WIRESHARK FILTERS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2093976"/>
            <a:ext cx="5010912" cy="740664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5F8FF"/>
                </a:solidFill>
                <a:latin typeface="Cascadia Code"/>
              </a:defRPr>
            </a:pPr>
            <a:r>
              <a:t>http</a:t>
            </a:r>
          </a:p>
          <a:p>
            <a:pPr>
              <a:spcAft>
                <a:spcPts val="500"/>
              </a:spcAft>
              <a:defRPr sz="1200" b="0">
                <a:solidFill>
                  <a:srgbClr val="F5F8FF"/>
                </a:solidFill>
                <a:latin typeface="Cascadia Code"/>
              </a:defRPr>
            </a:pPr>
            <a:r>
              <a:t>dns</a:t>
            </a:r>
          </a:p>
          <a:p>
            <a:pPr>
              <a:spcAft>
                <a:spcPts val="500"/>
              </a:spcAft>
              <a:defRPr sz="1200" b="0">
                <a:solidFill>
                  <a:srgbClr val="F5F8FF"/>
                </a:solidFill>
                <a:latin typeface="Cascadia Code"/>
              </a:defRPr>
            </a:pPr>
            <a:r>
              <a:t>tcp.port == 443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154680"/>
            <a:ext cx="10789920" cy="914400"/>
          </a:xfrm>
          <a:prstGeom prst="roundRect">
            <a:avLst/>
          </a:prstGeom>
          <a:solidFill>
            <a:srgbClr val="050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3227832"/>
            <a:ext cx="10497312" cy="18288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46DCE8"/>
                </a:solidFill>
                <a:latin typeface="Aptos"/>
              </a:defRPr>
            </a:pPr>
            <a:r>
              <a:t>DOWNLOAD APACHE SAMPLE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465576"/>
            <a:ext cx="10497312" cy="557784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5F8FF"/>
                </a:solidFill>
                <a:latin typeface="Cascadia Code"/>
              </a:defRPr>
            </a:pPr>
            <a:r>
              <a:t>wget -O access.log https://raw.githubusercontent.com/elastic/examples/master/Common%20Data%20Formats/apache_logs/apache_logs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97680"/>
            <a:ext cx="10789920" cy="914400"/>
          </a:xfrm>
          <a:prstGeom prst="roundRect">
            <a:avLst/>
          </a:prstGeom>
          <a:solidFill>
            <a:srgbClr val="050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4370832"/>
            <a:ext cx="10497312" cy="18288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900" b="1">
                <a:solidFill>
                  <a:srgbClr val="46DCE8"/>
                </a:solidFill>
                <a:latin typeface="Aptos"/>
              </a:defRPr>
            </a:pPr>
            <a:r>
              <a:t>COUNT AND RANK IPs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4608576"/>
            <a:ext cx="10497312" cy="557784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5F8FF"/>
                </a:solidFill>
                <a:latin typeface="Cascadia Code"/>
              </a:defRPr>
            </a:pPr>
            <a:r>
              <a:t>awk '{print $1}' access.log | sort | uniq -c | sort -nr | head -3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486400"/>
            <a:ext cx="10332720" cy="50292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46DCE8"/>
                </a:solidFill>
                <a:latin typeface="Aptos"/>
              </a:defRPr>
            </a:pPr>
            <a:r>
              <a:t>Snort: snort -v  |  snort -c /etc/snort/snort.lua -T  |  sudo snort -c /etc/snort/snort.lua -i eth0 -v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Cybersecurity Internship — Week 2 Project Presentation</dc:title>
  <dc:subject>DG Interns Hub Week 2 practical cybersecurity tasks</dc:subject>
  <dc:creator>Gunjan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